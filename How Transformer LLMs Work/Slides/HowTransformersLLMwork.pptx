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256" r:id="rId3"/>
    <p:sldId id="259" r:id="rId4"/>
    <p:sldId id="260" r:id="rId5"/>
    <p:sldId id="261" r:id="rId6"/>
    <p:sldId id="262" r:id="rId7"/>
    <p:sldId id="263" r:id="rId8"/>
    <p:sldId id="264" r:id="rId9"/>
    <p:sldId id="265" r:id="rId10"/>
    <p:sldId id="267" r:id="rId11"/>
    <p:sldId id="268" r:id="rId12"/>
    <p:sldId id="266" r:id="rId13"/>
    <p:sldId id="270" r:id="rId14"/>
    <p:sldId id="269" r:id="rId15"/>
    <p:sldId id="258" r:id="rId16"/>
  </p:sldIdLst>
  <p:sldSz cx="12192000" cy="6858000"/>
  <p:notesSz cx="6858000" cy="9144000"/>
  <p:defaultTextStyle>
    <a:defPPr>
      <a:defRPr lang="it-IT"/>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9BC316-3145-92D3-8BB8-D52A7184D817}" v="796" dt="2026-02-22T05:59:43.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89"/>
  </p:normalViewPr>
  <p:slideViewPr>
    <p:cSldViewPr snapToGrid="0" snapToObjects="1">
      <p:cViewPr varScale="1">
        <p:scale>
          <a:sx n="79" d="100"/>
          <a:sy n="79" d="100"/>
        </p:scale>
        <p:origin x="6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o Antonini" userId="144364eadc3a63b7" providerId="Windows Live" clId="Web-{889BC316-3145-92D3-8BB8-D52A7184D817}"/>
    <pc:docChg chg="addSld delSld modSld">
      <pc:chgData name="Fabio Antonini" userId="144364eadc3a63b7" providerId="Windows Live" clId="Web-{889BC316-3145-92D3-8BB8-D52A7184D817}" dt="2026-02-22T06:01:41.642" v="452"/>
      <pc:docMkLst>
        <pc:docMk/>
      </pc:docMkLst>
      <pc:sldChg chg="addSp modSp modNotes">
        <pc:chgData name="Fabio Antonini" userId="144364eadc3a63b7" providerId="Windows Live" clId="Web-{889BC316-3145-92D3-8BB8-D52A7184D817}" dt="2026-02-22T04:56:20.216" v="85" actId="1076"/>
        <pc:sldMkLst>
          <pc:docMk/>
          <pc:sldMk cId="0" sldId="256"/>
        </pc:sldMkLst>
        <pc:spChg chg="add mod">
          <ac:chgData name="Fabio Antonini" userId="144364eadc3a63b7" providerId="Windows Live" clId="Web-{889BC316-3145-92D3-8BB8-D52A7184D817}" dt="2026-02-22T04:56:00.716" v="83" actId="20577"/>
          <ac:spMkLst>
            <pc:docMk/>
            <pc:sldMk cId="0" sldId="256"/>
            <ac:spMk id="3" creationId="{1D3F752E-7FDD-A84A-B54B-A5A473373BA2}"/>
          </ac:spMkLst>
        </pc:spChg>
        <pc:spChg chg="mod">
          <ac:chgData name="Fabio Antonini" userId="144364eadc3a63b7" providerId="Windows Live" clId="Web-{889BC316-3145-92D3-8BB8-D52A7184D817}" dt="2026-02-22T04:55:33.169" v="81" actId="20577"/>
          <ac:spMkLst>
            <pc:docMk/>
            <pc:sldMk cId="0" sldId="256"/>
            <ac:spMk id="8" creationId="{ADE6D2E4-3F9E-FC4E-A7AE-0830B603B4E1}"/>
          </ac:spMkLst>
        </pc:spChg>
        <pc:picChg chg="add mod">
          <ac:chgData name="Fabio Antonini" userId="144364eadc3a63b7" providerId="Windows Live" clId="Web-{889BC316-3145-92D3-8BB8-D52A7184D817}" dt="2026-02-22T04:56:20.216" v="85" actId="1076"/>
          <ac:picMkLst>
            <pc:docMk/>
            <pc:sldMk cId="0" sldId="256"/>
            <ac:picMk id="2" creationId="{D9E048D9-4744-6EFE-388A-5B475E6ACA44}"/>
          </ac:picMkLst>
        </pc:picChg>
      </pc:sldChg>
      <pc:sldChg chg="addSp delSp modSp modNotes">
        <pc:chgData name="Fabio Antonini" userId="144364eadc3a63b7" providerId="Windows Live" clId="Web-{889BC316-3145-92D3-8BB8-D52A7184D817}" dt="2026-02-22T04:49:46.259" v="35"/>
        <pc:sldMkLst>
          <pc:docMk/>
          <pc:sldMk cId="0" sldId="257"/>
        </pc:sldMkLst>
        <pc:spChg chg="mod">
          <ac:chgData name="Fabio Antonini" userId="144364eadc3a63b7" providerId="Windows Live" clId="Web-{889BC316-3145-92D3-8BB8-D52A7184D817}" dt="2026-02-21T07:25:27.210" v="26" actId="1076"/>
          <ac:spMkLst>
            <pc:docMk/>
            <pc:sldMk cId="0" sldId="257"/>
            <ac:spMk id="3" creationId="{B8ABD603-41E9-63A4-C1D3-722DC3FE7E8D}"/>
          </ac:spMkLst>
        </pc:spChg>
        <pc:spChg chg="mod">
          <ac:chgData name="Fabio Antonini" userId="144364eadc3a63b7" providerId="Windows Live" clId="Web-{889BC316-3145-92D3-8BB8-D52A7184D817}" dt="2026-02-21T07:25:13.475" v="23" actId="1076"/>
          <ac:spMkLst>
            <pc:docMk/>
            <pc:sldMk cId="0" sldId="257"/>
            <ac:spMk id="5" creationId="{3E2C7848-D0C0-9848-A987-4617A90B8B9B}"/>
          </ac:spMkLst>
        </pc:spChg>
        <pc:picChg chg="add del mod">
          <ac:chgData name="Fabio Antonini" userId="144364eadc3a63b7" providerId="Windows Live" clId="Web-{889BC316-3145-92D3-8BB8-D52A7184D817}" dt="2026-02-21T07:24:53.990" v="18"/>
          <ac:picMkLst>
            <pc:docMk/>
            <pc:sldMk cId="0" sldId="257"/>
            <ac:picMk id="4" creationId="{3257BA44-EE02-54DF-842B-D3AD330B70B2}"/>
          </ac:picMkLst>
        </pc:picChg>
        <pc:picChg chg="add mod">
          <ac:chgData name="Fabio Antonini" userId="144364eadc3a63b7" providerId="Windows Live" clId="Web-{889BC316-3145-92D3-8BB8-D52A7184D817}" dt="2026-02-21T07:25:09.302" v="22" actId="14100"/>
          <ac:picMkLst>
            <pc:docMk/>
            <pc:sldMk cId="0" sldId="257"/>
            <ac:picMk id="6" creationId="{7B95D2A4-2A07-CAE9-D808-55EAC262AD98}"/>
          </ac:picMkLst>
        </pc:picChg>
        <pc:picChg chg="del">
          <ac:chgData name="Fabio Antonini" userId="144364eadc3a63b7" providerId="Windows Live" clId="Web-{889BC316-3145-92D3-8BB8-D52A7184D817}" dt="2026-02-21T07:21:13.642" v="0"/>
          <ac:picMkLst>
            <pc:docMk/>
            <pc:sldMk cId="0" sldId="257"/>
            <ac:picMk id="7" creationId="{A229D6F2-9BC5-0C6A-51FC-D452EB47D486}"/>
          </ac:picMkLst>
        </pc:picChg>
        <pc:picChg chg="mod">
          <ac:chgData name="Fabio Antonini" userId="144364eadc3a63b7" providerId="Windows Live" clId="Web-{889BC316-3145-92D3-8BB8-D52A7184D817}" dt="2026-02-21T07:25:15.600" v="24" actId="1076"/>
          <ac:picMkLst>
            <pc:docMk/>
            <pc:sldMk cId="0" sldId="257"/>
            <ac:picMk id="2050" creationId="{69213D12-B24B-57DB-C869-88BF3C67EC37}"/>
          </ac:picMkLst>
        </pc:picChg>
      </pc:sldChg>
      <pc:sldChg chg="addSp delSp modSp add replId modNotes">
        <pc:chgData name="Fabio Antonini" userId="144364eadc3a63b7" providerId="Windows Live" clId="Web-{889BC316-3145-92D3-8BB8-D52A7184D817}" dt="2026-02-22T04:58:38.537" v="113" actId="14100"/>
        <pc:sldMkLst>
          <pc:docMk/>
          <pc:sldMk cId="1129265080" sldId="259"/>
        </pc:sldMkLst>
        <pc:spChg chg="mod">
          <ac:chgData name="Fabio Antonini" userId="144364eadc3a63b7" providerId="Windows Live" clId="Web-{889BC316-3145-92D3-8BB8-D52A7184D817}" dt="2026-02-22T04:58:38.537" v="113" actId="14100"/>
          <ac:spMkLst>
            <pc:docMk/>
            <pc:sldMk cId="1129265080" sldId="259"/>
            <ac:spMk id="8" creationId="{B906EEC4-D0B6-BCD0-69B5-6E7F306D3390}"/>
          </ac:spMkLst>
        </pc:spChg>
        <pc:picChg chg="del">
          <ac:chgData name="Fabio Antonini" userId="144364eadc3a63b7" providerId="Windows Live" clId="Web-{889BC316-3145-92D3-8BB8-D52A7184D817}" dt="2026-02-22T04:53:14.464" v="64"/>
          <ac:picMkLst>
            <pc:docMk/>
            <pc:sldMk cId="1129265080" sldId="259"/>
            <ac:picMk id="2" creationId="{C030681C-D123-B1F9-3173-1FD2CE401CF8}"/>
          </ac:picMkLst>
        </pc:picChg>
        <pc:picChg chg="add mod">
          <ac:chgData name="Fabio Antonini" userId="144364eadc3a63b7" providerId="Windows Live" clId="Web-{889BC316-3145-92D3-8BB8-D52A7184D817}" dt="2026-02-22T04:57:57.655" v="86"/>
          <ac:picMkLst>
            <pc:docMk/>
            <pc:sldMk cId="1129265080" sldId="259"/>
            <ac:picMk id="3" creationId="{060AAEEB-AA74-570B-CE94-DC3F608CA1E4}"/>
          </ac:picMkLst>
        </pc:picChg>
      </pc:sldChg>
      <pc:sldChg chg="new del">
        <pc:chgData name="Fabio Antonini" userId="144364eadc3a63b7" providerId="Windows Live" clId="Web-{889BC316-3145-92D3-8BB8-D52A7184D817}" dt="2026-02-22T04:52:53.589" v="58"/>
        <pc:sldMkLst>
          <pc:docMk/>
          <pc:sldMk cId="1332565445" sldId="259"/>
        </pc:sldMkLst>
      </pc:sldChg>
      <pc:sldChg chg="addSp delSp modSp add replId modNotes">
        <pc:chgData name="Fabio Antonini" userId="144364eadc3a63b7" providerId="Windows Live" clId="Web-{889BC316-3145-92D3-8BB8-D52A7184D817}" dt="2026-02-22T05:02:02.886" v="168" actId="1076"/>
        <pc:sldMkLst>
          <pc:docMk/>
          <pc:sldMk cId="706544556" sldId="260"/>
        </pc:sldMkLst>
        <pc:spChg chg="add mod">
          <ac:chgData name="Fabio Antonini" userId="144364eadc3a63b7" providerId="Windows Live" clId="Web-{889BC316-3145-92D3-8BB8-D52A7184D817}" dt="2026-02-22T05:02:02.886" v="168" actId="1076"/>
          <ac:spMkLst>
            <pc:docMk/>
            <pc:sldMk cId="706544556" sldId="260"/>
            <ac:spMk id="4" creationId="{98C74723-EBF9-0C79-DB60-9E5362809CEB}"/>
          </ac:spMkLst>
        </pc:spChg>
        <pc:spChg chg="mod">
          <ac:chgData name="Fabio Antonini" userId="144364eadc3a63b7" providerId="Windows Live" clId="Web-{889BC316-3145-92D3-8BB8-D52A7184D817}" dt="2026-02-22T05:01:24.946" v="155" actId="20577"/>
          <ac:spMkLst>
            <pc:docMk/>
            <pc:sldMk cId="706544556" sldId="260"/>
            <ac:spMk id="8" creationId="{A4FAC345-6D45-BD5F-8BCC-4AF5656E8009}"/>
          </ac:spMkLst>
        </pc:spChg>
        <pc:picChg chg="add mod">
          <ac:chgData name="Fabio Antonini" userId="144364eadc3a63b7" providerId="Windows Live" clId="Web-{889BC316-3145-92D3-8BB8-D52A7184D817}" dt="2026-02-22T05:01:58.151" v="167" actId="1076"/>
          <ac:picMkLst>
            <pc:docMk/>
            <pc:sldMk cId="706544556" sldId="260"/>
            <ac:picMk id="2" creationId="{155FCAE2-F04A-1F2A-30EB-DA727E922A49}"/>
          </ac:picMkLst>
        </pc:picChg>
        <pc:picChg chg="del">
          <ac:chgData name="Fabio Antonini" userId="144364eadc3a63b7" providerId="Windows Live" clId="Web-{889BC316-3145-92D3-8BB8-D52A7184D817}" dt="2026-02-22T04:58:50.804" v="122"/>
          <ac:picMkLst>
            <pc:docMk/>
            <pc:sldMk cId="706544556" sldId="260"/>
            <ac:picMk id="3" creationId="{CFFDD81F-6A51-16B9-BA6B-1D637FBDD9E9}"/>
          </ac:picMkLst>
        </pc:picChg>
      </pc:sldChg>
      <pc:sldChg chg="addSp delSp modSp add replId modNotes">
        <pc:chgData name="Fabio Antonini" userId="144364eadc3a63b7" providerId="Windows Live" clId="Web-{889BC316-3145-92D3-8BB8-D52A7184D817}" dt="2026-02-22T05:13:54.194" v="236" actId="1076"/>
        <pc:sldMkLst>
          <pc:docMk/>
          <pc:sldMk cId="3898792369" sldId="261"/>
        </pc:sldMkLst>
        <pc:spChg chg="add mod">
          <ac:chgData name="Fabio Antonini" userId="144364eadc3a63b7" providerId="Windows Live" clId="Web-{889BC316-3145-92D3-8BB8-D52A7184D817}" dt="2026-02-22T05:12:01.333" v="232" actId="20577"/>
          <ac:spMkLst>
            <pc:docMk/>
            <pc:sldMk cId="3898792369" sldId="261"/>
            <ac:spMk id="3" creationId="{751BA150-3666-9360-B590-5A62821E2FB9}"/>
          </ac:spMkLst>
        </pc:spChg>
        <pc:spChg chg="mod">
          <ac:chgData name="Fabio Antonini" userId="144364eadc3a63b7" providerId="Windows Live" clId="Web-{889BC316-3145-92D3-8BB8-D52A7184D817}" dt="2026-02-22T05:09:14.449" v="196" actId="20577"/>
          <ac:spMkLst>
            <pc:docMk/>
            <pc:sldMk cId="3898792369" sldId="261"/>
            <ac:spMk id="8" creationId="{061F1510-50DB-5B84-C705-C6E49BF5A881}"/>
          </ac:spMkLst>
        </pc:spChg>
        <pc:picChg chg="add del mod">
          <ac:chgData name="Fabio Antonini" userId="144364eadc3a63b7" providerId="Windows Live" clId="Web-{889BC316-3145-92D3-8BB8-D52A7184D817}" dt="2026-02-22T05:13:39.319" v="234"/>
          <ac:picMkLst>
            <pc:docMk/>
            <pc:sldMk cId="3898792369" sldId="261"/>
            <ac:picMk id="2" creationId="{CF788842-A841-4ADD-AD57-C31493D37F2F}"/>
          </ac:picMkLst>
        </pc:picChg>
        <pc:picChg chg="add mod">
          <ac:chgData name="Fabio Antonini" userId="144364eadc3a63b7" providerId="Windows Live" clId="Web-{889BC316-3145-92D3-8BB8-D52A7184D817}" dt="2026-02-22T05:13:54.194" v="236" actId="1076"/>
          <ac:picMkLst>
            <pc:docMk/>
            <pc:sldMk cId="3898792369" sldId="261"/>
            <ac:picMk id="4" creationId="{CEBDCA96-FD8A-FDD8-55CD-D9B14170D0C2}"/>
          </ac:picMkLst>
        </pc:picChg>
      </pc:sldChg>
      <pc:sldChg chg="addSp delSp modSp add replId modNotes">
        <pc:chgData name="Fabio Antonini" userId="144364eadc3a63b7" providerId="Windows Live" clId="Web-{889BC316-3145-92D3-8BB8-D52A7184D817}" dt="2026-02-22T05:24:04.510" v="283" actId="20577"/>
        <pc:sldMkLst>
          <pc:docMk/>
          <pc:sldMk cId="782575966" sldId="262"/>
        </pc:sldMkLst>
        <pc:spChg chg="del mod">
          <ac:chgData name="Fabio Antonini" userId="144364eadc3a63b7" providerId="Windows Live" clId="Web-{889BC316-3145-92D3-8BB8-D52A7184D817}" dt="2026-02-22T05:16:43.127" v="243"/>
          <ac:spMkLst>
            <pc:docMk/>
            <pc:sldMk cId="782575966" sldId="262"/>
            <ac:spMk id="3" creationId="{3325373B-E3AA-4FF6-0F32-AAAA65344F75}"/>
          </ac:spMkLst>
        </pc:spChg>
        <pc:spChg chg="mod">
          <ac:chgData name="Fabio Antonini" userId="144364eadc3a63b7" providerId="Windows Live" clId="Web-{889BC316-3145-92D3-8BB8-D52A7184D817}" dt="2026-02-22T05:24:04.510" v="283" actId="20577"/>
          <ac:spMkLst>
            <pc:docMk/>
            <pc:sldMk cId="782575966" sldId="262"/>
            <ac:spMk id="8" creationId="{46C04E22-94EE-5516-9126-18E87388B079}"/>
          </ac:spMkLst>
        </pc:spChg>
        <pc:picChg chg="add mod">
          <ac:chgData name="Fabio Antonini" userId="144364eadc3a63b7" providerId="Windows Live" clId="Web-{889BC316-3145-92D3-8BB8-D52A7184D817}" dt="2026-02-22T05:20:45.691" v="273" actId="1076"/>
          <ac:picMkLst>
            <pc:docMk/>
            <pc:sldMk cId="782575966" sldId="262"/>
            <ac:picMk id="2" creationId="{5FB17D80-373E-7166-7F41-76983227C588}"/>
          </ac:picMkLst>
        </pc:picChg>
        <pc:picChg chg="del">
          <ac:chgData name="Fabio Antonini" userId="144364eadc3a63b7" providerId="Windows Live" clId="Web-{889BC316-3145-92D3-8BB8-D52A7184D817}" dt="2026-02-22T05:16:40.642" v="239"/>
          <ac:picMkLst>
            <pc:docMk/>
            <pc:sldMk cId="782575966" sldId="262"/>
            <ac:picMk id="4" creationId="{049E5661-8B73-416C-4886-80B96438473F}"/>
          </ac:picMkLst>
        </pc:picChg>
      </pc:sldChg>
      <pc:sldChg chg="addSp delSp modSp add replId modNotes">
        <pc:chgData name="Fabio Antonini" userId="144364eadc3a63b7" providerId="Windows Live" clId="Web-{889BC316-3145-92D3-8BB8-D52A7184D817}" dt="2026-02-22T05:27:58.486" v="311" actId="14100"/>
        <pc:sldMkLst>
          <pc:docMk/>
          <pc:sldMk cId="3708246025" sldId="263"/>
        </pc:sldMkLst>
        <pc:spChg chg="add mod">
          <ac:chgData name="Fabio Antonini" userId="144364eadc3a63b7" providerId="Windows Live" clId="Web-{889BC316-3145-92D3-8BB8-D52A7184D817}" dt="2026-02-22T05:27:58.486" v="311" actId="14100"/>
          <ac:spMkLst>
            <pc:docMk/>
            <pc:sldMk cId="3708246025" sldId="263"/>
            <ac:spMk id="4" creationId="{0973180A-126E-8682-2CD7-2EE7383E18F7}"/>
          </ac:spMkLst>
        </pc:spChg>
        <pc:spChg chg="mod">
          <ac:chgData name="Fabio Antonini" userId="144364eadc3a63b7" providerId="Windows Live" clId="Web-{889BC316-3145-92D3-8BB8-D52A7184D817}" dt="2026-02-22T05:27:40.892" v="309" actId="20577"/>
          <ac:spMkLst>
            <pc:docMk/>
            <pc:sldMk cId="3708246025" sldId="263"/>
            <ac:spMk id="8" creationId="{46398B34-30FB-9F78-12A8-F5F121C80440}"/>
          </ac:spMkLst>
        </pc:spChg>
        <pc:picChg chg="del">
          <ac:chgData name="Fabio Antonini" userId="144364eadc3a63b7" providerId="Windows Live" clId="Web-{889BC316-3145-92D3-8BB8-D52A7184D817}" dt="2026-02-22T05:22:39.632" v="275"/>
          <ac:picMkLst>
            <pc:docMk/>
            <pc:sldMk cId="3708246025" sldId="263"/>
            <ac:picMk id="2" creationId="{1A7DCCAD-A8CE-D45A-0281-1AD67234396A}"/>
          </ac:picMkLst>
        </pc:picChg>
        <pc:picChg chg="add mod">
          <ac:chgData name="Fabio Antonini" userId="144364eadc3a63b7" providerId="Windows Live" clId="Web-{889BC316-3145-92D3-8BB8-D52A7184D817}" dt="2026-02-22T05:27:08.204" v="308" actId="1076"/>
          <ac:picMkLst>
            <pc:docMk/>
            <pc:sldMk cId="3708246025" sldId="263"/>
            <ac:picMk id="3" creationId="{9352A657-D354-C642-C8B7-13C7FD77A465}"/>
          </ac:picMkLst>
        </pc:picChg>
      </pc:sldChg>
      <pc:sldChg chg="addSp delSp modSp add replId modNotes">
        <pc:chgData name="Fabio Antonini" userId="144364eadc3a63b7" providerId="Windows Live" clId="Web-{889BC316-3145-92D3-8BB8-D52A7184D817}" dt="2026-02-22T05:31:42.677" v="320" actId="1076"/>
        <pc:sldMkLst>
          <pc:docMk/>
          <pc:sldMk cId="1676310296" sldId="264"/>
        </pc:sldMkLst>
        <pc:spChg chg="mod">
          <ac:chgData name="Fabio Antonini" userId="144364eadc3a63b7" providerId="Windows Live" clId="Web-{889BC316-3145-92D3-8BB8-D52A7184D817}" dt="2026-02-22T05:25:46.344" v="294" actId="20577"/>
          <ac:spMkLst>
            <pc:docMk/>
            <pc:sldMk cId="1676310296" sldId="264"/>
            <ac:spMk id="8" creationId="{507F8FA1-6911-9309-7915-237499AA7AF5}"/>
          </ac:spMkLst>
        </pc:spChg>
        <pc:picChg chg="add del mod">
          <ac:chgData name="Fabio Antonini" userId="144364eadc3a63b7" providerId="Windows Live" clId="Web-{889BC316-3145-92D3-8BB8-D52A7184D817}" dt="2026-02-22T05:31:24.411" v="316"/>
          <ac:picMkLst>
            <pc:docMk/>
            <pc:sldMk cId="1676310296" sldId="264"/>
            <ac:picMk id="2" creationId="{2965CCA3-779A-1063-C319-C6F65AF368D8}"/>
          </ac:picMkLst>
        </pc:picChg>
        <pc:picChg chg="del">
          <ac:chgData name="Fabio Antonini" userId="144364eadc3a63b7" providerId="Windows Live" clId="Web-{889BC316-3145-92D3-8BB8-D52A7184D817}" dt="2026-02-22T05:25:50.187" v="297"/>
          <ac:picMkLst>
            <pc:docMk/>
            <pc:sldMk cId="1676310296" sldId="264"/>
            <ac:picMk id="3" creationId="{E1569201-0899-8CD7-3EA9-1FCF69246C19}"/>
          </ac:picMkLst>
        </pc:picChg>
        <pc:picChg chg="add mod">
          <ac:chgData name="Fabio Antonini" userId="144364eadc3a63b7" providerId="Windows Live" clId="Web-{889BC316-3145-92D3-8BB8-D52A7184D817}" dt="2026-02-22T05:31:42.677" v="320" actId="1076"/>
          <ac:picMkLst>
            <pc:docMk/>
            <pc:sldMk cId="1676310296" sldId="264"/>
            <ac:picMk id="4" creationId="{B7FD01F4-B8D6-2166-706E-E40CC4A5E22B}"/>
          </ac:picMkLst>
        </pc:picChg>
      </pc:sldChg>
      <pc:sldChg chg="addSp delSp modSp add replId modNotes">
        <pc:chgData name="Fabio Antonini" userId="144364eadc3a63b7" providerId="Windows Live" clId="Web-{889BC316-3145-92D3-8BB8-D52A7184D817}" dt="2026-02-22T05:39:56.772" v="340"/>
        <pc:sldMkLst>
          <pc:docMk/>
          <pc:sldMk cId="561042967" sldId="265"/>
        </pc:sldMkLst>
        <pc:spChg chg="mod">
          <ac:chgData name="Fabio Antonini" userId="144364eadc3a63b7" providerId="Windows Live" clId="Web-{889BC316-3145-92D3-8BB8-D52A7184D817}" dt="2026-02-22T05:37:42.798" v="335" actId="20577"/>
          <ac:spMkLst>
            <pc:docMk/>
            <pc:sldMk cId="561042967" sldId="265"/>
            <ac:spMk id="8" creationId="{80CA3F98-E971-C859-E651-305C50F52280}"/>
          </ac:spMkLst>
        </pc:spChg>
        <pc:picChg chg="add mod">
          <ac:chgData name="Fabio Antonini" userId="144364eadc3a63b7" providerId="Windows Live" clId="Web-{889BC316-3145-92D3-8BB8-D52A7184D817}" dt="2026-02-22T05:39:41.083" v="337" actId="1076"/>
          <ac:picMkLst>
            <pc:docMk/>
            <pc:sldMk cId="561042967" sldId="265"/>
            <ac:picMk id="2" creationId="{BA14F355-49CD-264C-9F43-C0D502DB8323}"/>
          </ac:picMkLst>
        </pc:picChg>
        <pc:picChg chg="del">
          <ac:chgData name="Fabio Antonini" userId="144364eadc3a63b7" providerId="Windows Live" clId="Web-{889BC316-3145-92D3-8BB8-D52A7184D817}" dt="2026-02-22T05:32:15.773" v="324"/>
          <ac:picMkLst>
            <pc:docMk/>
            <pc:sldMk cId="561042967" sldId="265"/>
            <ac:picMk id="4" creationId="{F5A84A3D-2016-2F80-857A-ACE92E78B949}"/>
          </ac:picMkLst>
        </pc:picChg>
      </pc:sldChg>
      <pc:sldChg chg="addSp modSp add replId modNotes">
        <pc:chgData name="Fabio Antonini" userId="144364eadc3a63b7" providerId="Windows Live" clId="Web-{889BC316-3145-92D3-8BB8-D52A7184D817}" dt="2026-02-22T05:52:11.672" v="406" actId="1076"/>
        <pc:sldMkLst>
          <pc:docMk/>
          <pc:sldMk cId="1294601759" sldId="266"/>
        </pc:sldMkLst>
        <pc:spChg chg="add mod">
          <ac:chgData name="Fabio Antonini" userId="144364eadc3a63b7" providerId="Windows Live" clId="Web-{889BC316-3145-92D3-8BB8-D52A7184D817}" dt="2026-02-22T05:52:11.672" v="406" actId="1076"/>
          <ac:spMkLst>
            <pc:docMk/>
            <pc:sldMk cId="1294601759" sldId="266"/>
            <ac:spMk id="3" creationId="{0A5ADD31-3232-1247-16BA-E52BEC70E63F}"/>
          </ac:spMkLst>
        </pc:spChg>
        <pc:spChg chg="mod">
          <ac:chgData name="Fabio Antonini" userId="144364eadc3a63b7" providerId="Windows Live" clId="Web-{889BC316-3145-92D3-8BB8-D52A7184D817}" dt="2026-02-22T05:49:27.189" v="391" actId="20577"/>
          <ac:spMkLst>
            <pc:docMk/>
            <pc:sldMk cId="1294601759" sldId="266"/>
            <ac:spMk id="8" creationId="{F861F172-EF84-1C36-44C5-8B642D9EA575}"/>
          </ac:spMkLst>
        </pc:spChg>
        <pc:picChg chg="add mod">
          <ac:chgData name="Fabio Antonini" userId="144364eadc3a63b7" providerId="Windows Live" clId="Web-{889BC316-3145-92D3-8BB8-D52A7184D817}" dt="2026-02-22T05:52:08.359" v="405" actId="1076"/>
          <ac:picMkLst>
            <pc:docMk/>
            <pc:sldMk cId="1294601759" sldId="266"/>
            <ac:picMk id="2" creationId="{F0B9F184-1A27-56AD-4FF2-131627D04600}"/>
          </ac:picMkLst>
        </pc:picChg>
      </pc:sldChg>
      <pc:sldChg chg="addSp modSp add replId modNotes">
        <pc:chgData name="Fabio Antonini" userId="144364eadc3a63b7" providerId="Windows Live" clId="Web-{889BC316-3145-92D3-8BB8-D52A7184D817}" dt="2026-02-22T05:44:37.715" v="364" actId="1076"/>
        <pc:sldMkLst>
          <pc:docMk/>
          <pc:sldMk cId="2629849524" sldId="267"/>
        </pc:sldMkLst>
        <pc:spChg chg="add mod">
          <ac:chgData name="Fabio Antonini" userId="144364eadc3a63b7" providerId="Windows Live" clId="Web-{889BC316-3145-92D3-8BB8-D52A7184D817}" dt="2026-02-22T05:44:37.715" v="364" actId="1076"/>
          <ac:spMkLst>
            <pc:docMk/>
            <pc:sldMk cId="2629849524" sldId="267"/>
            <ac:spMk id="3" creationId="{BE41A036-C482-1248-3328-841745139A64}"/>
          </ac:spMkLst>
        </pc:spChg>
        <pc:spChg chg="mod">
          <ac:chgData name="Fabio Antonini" userId="144364eadc3a63b7" providerId="Windows Live" clId="Web-{889BC316-3145-92D3-8BB8-D52A7184D817}" dt="2026-02-22T05:42:46.354" v="347" actId="20577"/>
          <ac:spMkLst>
            <pc:docMk/>
            <pc:sldMk cId="2629849524" sldId="267"/>
            <ac:spMk id="8" creationId="{3E548F61-4457-20C3-0612-E688E4348357}"/>
          </ac:spMkLst>
        </pc:spChg>
        <pc:picChg chg="add mod">
          <ac:chgData name="Fabio Antonini" userId="144364eadc3a63b7" providerId="Windows Live" clId="Web-{889BC316-3145-92D3-8BB8-D52A7184D817}" dt="2026-02-22T05:44:28.136" v="361" actId="1076"/>
          <ac:picMkLst>
            <pc:docMk/>
            <pc:sldMk cId="2629849524" sldId="267"/>
            <ac:picMk id="2" creationId="{BB00DD59-0517-A775-3984-9325FB7C7036}"/>
          </ac:picMkLst>
        </pc:picChg>
      </pc:sldChg>
      <pc:sldChg chg="addSp modSp add replId modNotes">
        <pc:chgData name="Fabio Antonini" userId="144364eadc3a63b7" providerId="Windows Live" clId="Web-{889BC316-3145-92D3-8BB8-D52A7184D817}" dt="2026-02-22T05:48:44.155" v="371"/>
        <pc:sldMkLst>
          <pc:docMk/>
          <pc:sldMk cId="4250157455" sldId="268"/>
        </pc:sldMkLst>
        <pc:spChg chg="mod">
          <ac:chgData name="Fabio Antonini" userId="144364eadc3a63b7" providerId="Windows Live" clId="Web-{889BC316-3145-92D3-8BB8-D52A7184D817}" dt="2026-02-22T05:47:29.545" v="369" actId="20577"/>
          <ac:spMkLst>
            <pc:docMk/>
            <pc:sldMk cId="4250157455" sldId="268"/>
            <ac:spMk id="8" creationId="{47AC5965-92F9-906E-C9E9-6ADAF693A84A}"/>
          </ac:spMkLst>
        </pc:spChg>
        <pc:picChg chg="add mod">
          <ac:chgData name="Fabio Antonini" userId="144364eadc3a63b7" providerId="Windows Live" clId="Web-{889BC316-3145-92D3-8BB8-D52A7184D817}" dt="2026-02-22T05:47:38.420" v="370"/>
          <ac:picMkLst>
            <pc:docMk/>
            <pc:sldMk cId="4250157455" sldId="268"/>
            <ac:picMk id="2" creationId="{6F0CCC69-9300-2CC6-A827-4394C750E3D1}"/>
          </ac:picMkLst>
        </pc:picChg>
      </pc:sldChg>
      <pc:sldChg chg="addSp modSp add replId modNotes">
        <pc:chgData name="Fabio Antonini" userId="144364eadc3a63b7" providerId="Windows Live" clId="Web-{889BC316-3145-92D3-8BB8-D52A7184D817}" dt="2026-02-22T06:01:41.642" v="452"/>
        <pc:sldMkLst>
          <pc:docMk/>
          <pc:sldMk cId="4089532468" sldId="269"/>
        </pc:sldMkLst>
        <pc:spChg chg="add mod">
          <ac:chgData name="Fabio Antonini" userId="144364eadc3a63b7" providerId="Windows Live" clId="Web-{889BC316-3145-92D3-8BB8-D52A7184D817}" dt="2026-02-22T05:59:38.390" v="448" actId="14100"/>
          <ac:spMkLst>
            <pc:docMk/>
            <pc:sldMk cId="4089532468" sldId="269"/>
            <ac:spMk id="2" creationId="{843B4E73-4E58-455B-B76E-C310CF29D9D9}"/>
          </ac:spMkLst>
        </pc:spChg>
        <pc:spChg chg="mod">
          <ac:chgData name="Fabio Antonini" userId="144364eadc3a63b7" providerId="Windows Live" clId="Web-{889BC316-3145-92D3-8BB8-D52A7184D817}" dt="2026-02-22T05:59:12.702" v="443" actId="20577"/>
          <ac:spMkLst>
            <pc:docMk/>
            <pc:sldMk cId="4089532468" sldId="269"/>
            <ac:spMk id="8" creationId="{C8378A2F-3E23-A185-5FFA-5A6CF7964758}"/>
          </ac:spMkLst>
        </pc:spChg>
        <pc:picChg chg="add mod">
          <ac:chgData name="Fabio Antonini" userId="144364eadc3a63b7" providerId="Windows Live" clId="Web-{889BC316-3145-92D3-8BB8-D52A7184D817}" dt="2026-02-22T05:59:43.922" v="449" actId="1076"/>
          <ac:picMkLst>
            <pc:docMk/>
            <pc:sldMk cId="4089532468" sldId="269"/>
            <ac:picMk id="3" creationId="{8AD644BF-7232-422D-6888-C1A46CA946C3}"/>
          </ac:picMkLst>
        </pc:picChg>
      </pc:sldChg>
      <pc:sldChg chg="addSp modSp add replId modNotes">
        <pc:chgData name="Fabio Antonini" userId="144364eadc3a63b7" providerId="Windows Live" clId="Web-{889BC316-3145-92D3-8BB8-D52A7184D817}" dt="2026-02-22T05:57:23.747" v="431" actId="20577"/>
        <pc:sldMkLst>
          <pc:docMk/>
          <pc:sldMk cId="3906040642" sldId="270"/>
        </pc:sldMkLst>
        <pc:spChg chg="add mod">
          <ac:chgData name="Fabio Antonini" userId="144364eadc3a63b7" providerId="Windows Live" clId="Web-{889BC316-3145-92D3-8BB8-D52A7184D817}" dt="2026-02-22T05:57:23.747" v="431" actId="20577"/>
          <ac:spMkLst>
            <pc:docMk/>
            <pc:sldMk cId="3906040642" sldId="270"/>
            <ac:spMk id="3" creationId="{062F74DE-CC2B-787E-EDCB-3C2C6B62869F}"/>
          </ac:spMkLst>
        </pc:spChg>
        <pc:spChg chg="mod">
          <ac:chgData name="Fabio Antonini" userId="144364eadc3a63b7" providerId="Windows Live" clId="Web-{889BC316-3145-92D3-8BB8-D52A7184D817}" dt="2026-02-22T05:55:41.744" v="412" actId="20577"/>
          <ac:spMkLst>
            <pc:docMk/>
            <pc:sldMk cId="3906040642" sldId="270"/>
            <ac:spMk id="8" creationId="{EE606C51-7C88-E431-B423-C573E700E013}"/>
          </ac:spMkLst>
        </pc:spChg>
        <pc:picChg chg="add mod">
          <ac:chgData name="Fabio Antonini" userId="144364eadc3a63b7" providerId="Windows Live" clId="Web-{889BC316-3145-92D3-8BB8-D52A7184D817}" dt="2026-02-22T05:56:43.480" v="426" actId="14100"/>
          <ac:picMkLst>
            <pc:docMk/>
            <pc:sldMk cId="3906040642" sldId="270"/>
            <ac:picMk id="2" creationId="{A2D181EF-F903-990C-1387-F762A71E6B9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DC90D-F08B-4FA4-A93F-578FD89359FE}" type="datetimeFigureOut">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8260DE-0367-455E-A135-C9E54FB29808}" type="slidenum">
              <a:t>‹#›</a:t>
            </a:fld>
            <a:endParaRPr lang="en-US"/>
          </a:p>
        </p:txBody>
      </p:sp>
    </p:spTree>
    <p:extLst>
      <p:ext uri="{BB962C8B-B14F-4D97-AF65-F5344CB8AC3E}">
        <p14:creationId xmlns:p14="http://schemas.microsoft.com/office/powerpoint/2010/main" val="157797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How Transformer LLMs Work.</a:t>
            </a:r>
          </a:p>
          <a:p>
            <a:r>
              <a:rPr lang="en-US"/>
              <a:t>In this course, you learn about the main components of the LLM transformer architecture that has transformed the field of language processing.</a:t>
            </a:r>
          </a:p>
          <a:p>
            <a:r>
              <a:rPr lang="en-US" dirty="0"/>
              <a:t>Our hope is that as you leave this course, you will be able to read through papers describing models and understand the details that are used to describe these architectures.</a:t>
            </a:r>
            <a:endParaRPr lang="en-US" dirty="0">
              <a:ea typeface="Calibri"/>
              <a:cs typeface="Calibri"/>
            </a:endParaRPr>
          </a:p>
          <a:p>
            <a:r>
              <a:rPr lang="en-US" dirty="0"/>
              <a:t>And these intuitions will help you use LLMs better too.</a:t>
            </a:r>
            <a:endParaRPr lang="en-US" dirty="0">
              <a:ea typeface="Calibri"/>
              <a:cs typeface="Calibri"/>
            </a:endParaRPr>
          </a:p>
          <a:p>
            <a:r>
              <a:rPr lang="en-US" dirty="0"/>
              <a:t>Let me introduce the main topic of this course, the transformer.</a:t>
            </a:r>
            <a:endParaRPr lang="en-US" dirty="0">
              <a:ea typeface="Calibri"/>
              <a:cs typeface="Calibri"/>
            </a:endParaRPr>
          </a:p>
          <a:p>
            <a:r>
              <a:rPr lang="en-US" dirty="0"/>
              <a:t>The transformer architecture was first introduced in the 2017 paper, *Attention is All You Need* by Ashish Vaswani and others for machine translation tasks.</a:t>
            </a:r>
            <a:endParaRPr lang="en-US" dirty="0">
              <a:ea typeface="Calibri"/>
              <a:cs typeface="Calibri"/>
            </a:endParaRPr>
          </a:p>
          <a:p>
            <a:r>
              <a:rPr lang="en-US" dirty="0"/>
              <a:t>The idea was to input an English sentence and have the network output a German sentence.</a:t>
            </a:r>
            <a:endParaRPr lang="en-US" dirty="0">
              <a:ea typeface="Calibri"/>
              <a:cs typeface="Calibri"/>
            </a:endParaRPr>
          </a:p>
          <a:p>
            <a:r>
              <a:rPr lang="en-US" dirty="0"/>
              <a:t>The same architecture tends to be great at inputting, say, a prompt and outputting a response to that prompt like a question and the answer to that question.</a:t>
            </a:r>
            <a:endParaRPr lang="en-US" dirty="0">
              <a:ea typeface="Calibri"/>
              <a:cs typeface="Calibri"/>
            </a:endParaRPr>
          </a:p>
          <a:p>
            <a:r>
              <a:rPr lang="en-US" dirty="0"/>
              <a:t>And so this helped herald the early rise of large language models.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48260DE-0367-455E-A135-C9E54FB29808}" type="slidenum">
              <a:t>1</a:t>
            </a:fld>
            <a:endParaRPr lang="en-US"/>
          </a:p>
        </p:txBody>
      </p:sp>
    </p:spTree>
    <p:extLst>
      <p:ext uri="{BB962C8B-B14F-4D97-AF65-F5344CB8AC3E}">
        <p14:creationId xmlns:p14="http://schemas.microsoft.com/office/powerpoint/2010/main" val="3935815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transformer architecture consisted of two main parts.</a:t>
            </a:r>
          </a:p>
          <a:p>
            <a:r>
              <a:rPr lang="en-US" dirty="0"/>
              <a:t>It was an encoder and decoder.</a:t>
            </a:r>
            <a:endParaRPr lang="en-US" dirty="0">
              <a:ea typeface="Calibri"/>
              <a:cs typeface="Calibri"/>
            </a:endParaRPr>
          </a:p>
          <a:p>
            <a:r>
              <a:rPr lang="en-US" dirty="0"/>
              <a:t>Consider translating English into German, the encoder preprocesses the entire input English text to extract the context needed to perform the translation.</a:t>
            </a:r>
            <a:endParaRPr lang="en-US" dirty="0">
              <a:ea typeface="Calibri"/>
              <a:cs typeface="Calibri"/>
            </a:endParaRPr>
          </a:p>
          <a:p>
            <a:r>
              <a:rPr lang="en-US" dirty="0"/>
              <a:t>Then the decoder uses the encoder context to generate the German.</a:t>
            </a:r>
            <a:endParaRPr lang="en-US" dirty="0">
              <a:ea typeface="Calibri"/>
              <a:cs typeface="Calibri"/>
            </a:endParaRPr>
          </a:p>
          <a:p>
            <a:r>
              <a:rPr lang="en-US" dirty="0"/>
              <a:t>The encoder and the decoder form the basis for the models used in many language models today.</a:t>
            </a:r>
            <a:endParaRPr lang="en-US" dirty="0">
              <a:ea typeface="Calibri"/>
              <a:cs typeface="Calibri"/>
            </a:endParaRPr>
          </a:p>
          <a:p>
            <a:r>
              <a:rPr lang="en-US" dirty="0"/>
              <a:t>The encoder model provides rich, context-sensitive representations of the input text, and is the basis for the BERT model and most of the embedding models using RAG applications.</a:t>
            </a:r>
            <a:endParaRPr lang="en-US" dirty="0">
              <a:ea typeface="Calibri"/>
              <a:cs typeface="Calibri"/>
            </a:endParaRPr>
          </a:p>
          <a:p>
            <a:r>
              <a:rPr lang="en-US" dirty="0"/>
              <a:t>The decoder model performs text generation tasks such as summarizing text, writing code, answering questions, and is the basis for most popular LLMs, such as those from OpenAI, Anthropic, Cohere, and Meta.</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48260DE-0367-455E-A135-C9E54FB29808}" type="slidenum">
              <a:t>2</a:t>
            </a:fld>
            <a:endParaRPr lang="en-US"/>
          </a:p>
        </p:txBody>
      </p:sp>
    </p:spTree>
    <p:extLst>
      <p:ext uri="{BB962C8B-B14F-4D97-AF65-F5344CB8AC3E}">
        <p14:creationId xmlns:p14="http://schemas.microsoft.com/office/powerpoint/2010/main" val="4026018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CA8F6-64A9-6DD0-FE52-97E30F343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C61C4-C0C4-C2F5-FA4B-90D4714A2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321C3-971B-34F9-CDD2-542C775F35B4}"/>
              </a:ext>
            </a:extLst>
          </p:cNvPr>
          <p:cNvSpPr>
            <a:spLocks noGrp="1"/>
          </p:cNvSpPr>
          <p:nvPr>
            <p:ph type="body" idx="1"/>
          </p:nvPr>
        </p:nvSpPr>
        <p:spPr/>
        <p:txBody>
          <a:bodyPr/>
          <a:lstStyle/>
          <a:p>
            <a:r>
              <a:rPr lang="en-US" dirty="0"/>
              <a:t>Let's go over what you learned in this course.</a:t>
            </a:r>
            <a:endParaRPr lang="en-US" dirty="0">
              <a:solidFill>
                <a:srgbClr val="444444"/>
              </a:solidFill>
            </a:endParaRPr>
          </a:p>
          <a:p>
            <a:r>
              <a:rPr lang="en-US" dirty="0"/>
              <a:t>You first delve into recent developments in LLMs to see how a sequence of increasingly sophisticated building blocks led to the modern transformer.</a:t>
            </a:r>
            <a:endParaRPr lang="en-US" dirty="0">
              <a:solidFill>
                <a:srgbClr val="444444"/>
              </a:solidFill>
            </a:endParaRPr>
          </a:p>
        </p:txBody>
      </p:sp>
      <p:sp>
        <p:nvSpPr>
          <p:cNvPr id="4" name="Slide Number Placeholder 3">
            <a:extLst>
              <a:ext uri="{FF2B5EF4-FFF2-40B4-BE49-F238E27FC236}">
                <a16:creationId xmlns:a16="http://schemas.microsoft.com/office/drawing/2014/main" id="{6AC5245C-064F-C2A1-DB58-70191AF47C57}"/>
              </a:ext>
            </a:extLst>
          </p:cNvPr>
          <p:cNvSpPr>
            <a:spLocks noGrp="1"/>
          </p:cNvSpPr>
          <p:nvPr>
            <p:ph type="sldNum" sz="quarter" idx="5"/>
          </p:nvPr>
        </p:nvSpPr>
        <p:spPr/>
        <p:txBody>
          <a:bodyPr/>
          <a:lstStyle/>
          <a:p>
            <a:fld id="{E48260DE-0367-455E-A135-C9E54FB29808}" type="slidenum">
              <a:t>3</a:t>
            </a:fld>
            <a:endParaRPr lang="en-US"/>
          </a:p>
        </p:txBody>
      </p:sp>
    </p:spTree>
    <p:extLst>
      <p:ext uri="{BB962C8B-B14F-4D97-AF65-F5344CB8AC3E}">
        <p14:creationId xmlns:p14="http://schemas.microsoft.com/office/powerpoint/2010/main" val="3401523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6353D-3F6B-8217-DD93-BFD5CDA68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5E42-0863-81A6-F959-AFC36D44D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E6B90B-B888-A2CA-2668-0620FF807F17}"/>
              </a:ext>
            </a:extLst>
          </p:cNvPr>
          <p:cNvSpPr>
            <a:spLocks noGrp="1"/>
          </p:cNvSpPr>
          <p:nvPr>
            <p:ph type="body" idx="1"/>
          </p:nvPr>
        </p:nvSpPr>
        <p:spPr/>
        <p:txBody>
          <a:bodyPr/>
          <a:lstStyle/>
          <a:p>
            <a:r>
              <a:rPr lang="en-US" dirty="0"/>
              <a:t>You then learn about tokenization, which consists of taking text and breaking it down into tokens that comprise words or word fragments.</a:t>
            </a:r>
            <a:endParaRPr lang="en-US" dirty="0">
              <a:solidFill>
                <a:srgbClr val="444444"/>
              </a:solidFill>
            </a:endParaRPr>
          </a:p>
          <a:p>
            <a:r>
              <a:rPr lang="en-US" dirty="0"/>
              <a:t>They can then be fed into the LLM.</a:t>
            </a:r>
            <a:endParaRPr lang="en-US" dirty="0">
              <a:solidFill>
                <a:srgbClr val="444444"/>
              </a:solidFill>
            </a:endParaRPr>
          </a:p>
          <a:p>
            <a:endParaRPr lang="en-US" dirty="0">
              <a:solidFill>
                <a:srgbClr val="444444"/>
              </a:solidFill>
            </a:endParaRPr>
          </a:p>
        </p:txBody>
      </p:sp>
      <p:sp>
        <p:nvSpPr>
          <p:cNvPr id="4" name="Slide Number Placeholder 3">
            <a:extLst>
              <a:ext uri="{FF2B5EF4-FFF2-40B4-BE49-F238E27FC236}">
                <a16:creationId xmlns:a16="http://schemas.microsoft.com/office/drawing/2014/main" id="{C9AAA440-8412-0F40-07FD-7DE73E0F0C84}"/>
              </a:ext>
            </a:extLst>
          </p:cNvPr>
          <p:cNvSpPr>
            <a:spLocks noGrp="1"/>
          </p:cNvSpPr>
          <p:nvPr>
            <p:ph type="sldNum" sz="quarter" idx="5"/>
          </p:nvPr>
        </p:nvSpPr>
        <p:spPr/>
        <p:txBody>
          <a:bodyPr/>
          <a:lstStyle/>
          <a:p>
            <a:fld id="{E48260DE-0367-455E-A135-C9E54FB29808}" type="slidenum">
              <a:t>4</a:t>
            </a:fld>
            <a:endParaRPr lang="en-US"/>
          </a:p>
        </p:txBody>
      </p:sp>
    </p:spTree>
    <p:extLst>
      <p:ext uri="{BB962C8B-B14F-4D97-AF65-F5344CB8AC3E}">
        <p14:creationId xmlns:p14="http://schemas.microsoft.com/office/powerpoint/2010/main" val="1592354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DBF7-F545-83CD-2692-4E256219B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4BA40-F053-7571-FF91-A49486A0A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B9F7A-B024-3F1A-A19F-0C644A226BD4}"/>
              </a:ext>
            </a:extLst>
          </p:cNvPr>
          <p:cNvSpPr>
            <a:spLocks noGrp="1"/>
          </p:cNvSpPr>
          <p:nvPr>
            <p:ph type="body" idx="1"/>
          </p:nvPr>
        </p:nvSpPr>
        <p:spPr/>
        <p:txBody>
          <a:bodyPr/>
          <a:lstStyle/>
          <a:p>
            <a:r>
              <a:rPr lang="en-US"/>
              <a:t>After that, you gain intuition about how the transformer network works, focusing on the decoder-only models.</a:t>
            </a:r>
            <a:endParaRPr lang="en-US" dirty="0">
              <a:solidFill>
                <a:srgbClr val="444444"/>
              </a:solidFill>
            </a:endParaRPr>
          </a:p>
          <a:p>
            <a:r>
              <a:rPr lang="en-US"/>
              <a:t>A generative model takes in a text prompt, and it generates a text in response by generating one token at a time.</a:t>
            </a:r>
            <a:endParaRPr lang="en-US" dirty="0">
              <a:solidFill>
                <a:srgbClr val="444444"/>
              </a:solidFill>
            </a:endParaRPr>
          </a:p>
          <a:p>
            <a:r>
              <a:rPr lang="en-US"/>
              <a:t>Here's how the generation process works.</a:t>
            </a:r>
            <a:endParaRPr lang="en-US" dirty="0">
              <a:solidFill>
                <a:srgbClr val="444444"/>
              </a:solidFill>
            </a:endParaRPr>
          </a:p>
          <a:p>
            <a:r>
              <a:rPr lang="en-US"/>
              <a:t>The model starts by mapping each input token into an embedding vector that captures the meaning of that token.</a:t>
            </a:r>
            <a:endParaRPr lang="en-US" dirty="0">
              <a:solidFill>
                <a:srgbClr val="444444"/>
              </a:solidFill>
            </a:endParaRPr>
          </a:p>
          <a:p>
            <a:r>
              <a:rPr lang="en-US"/>
              <a:t>After that, the model parses these token embeddings through a stack of transformer blocks, where each block is a specific neural network architecture that is designed to learn flexibly from data and also scale well on GPUs.</a:t>
            </a:r>
            <a:endParaRPr lang="en-US" dirty="0">
              <a:solidFill>
                <a:srgbClr val="444444"/>
              </a:solidFill>
            </a:endParaRPr>
          </a:p>
          <a:p>
            <a:r>
              <a:rPr lang="en-US"/>
              <a:t>So you learn how each block is made up of an attention layer and a feed-forward network.</a:t>
            </a:r>
            <a:endParaRPr lang="en-US">
              <a:solidFill>
                <a:srgbClr val="444444"/>
              </a:solidFill>
            </a:endParaRPr>
          </a:p>
          <a:p>
            <a:r>
              <a:rPr lang="en-US" dirty="0"/>
              <a:t>The model then uses the output vectors of the transformer blocks and passes them to the last component, the language modeling head, which generates the output token.</a:t>
            </a:r>
            <a:endParaRPr lang="en-US" dirty="0">
              <a:solidFill>
                <a:srgbClr val="444444"/>
              </a:solidFill>
            </a:endParaRPr>
          </a:p>
          <a:p>
            <a:r>
              <a:rPr lang="en-US" dirty="0"/>
              <a:t>By the way, I know that Transformers might seem a little bit like magic to some people, and in fact, one common experience after you learn how Transformers work is, I've heard some people go, oh, that's it.</a:t>
            </a:r>
            <a:endParaRPr lang="en-US" dirty="0">
              <a:solidFill>
                <a:srgbClr val="444444"/>
              </a:solidFill>
            </a:endParaRPr>
          </a:p>
          <a:p>
            <a:r>
              <a:rPr lang="en-US" dirty="0"/>
              <a:t>And I think part of the reason for that reaction is the magic of LLMs actually comes from two parts:</a:t>
            </a:r>
            <a:endParaRPr lang="en-US" dirty="0">
              <a:solidFill>
                <a:srgbClr val="444444"/>
              </a:solidFill>
            </a:endParaRPr>
          </a:p>
          <a:p>
            <a:r>
              <a:rPr lang="en-US" dirty="0"/>
              <a:t>One, the transformer architecture, which you learn is well worth learning.</a:t>
            </a:r>
            <a:endParaRPr lang="en-US" dirty="0">
              <a:solidFill>
                <a:srgbClr val="444444"/>
              </a:solidFill>
            </a:endParaRPr>
          </a:p>
          <a:p>
            <a:r>
              <a:rPr lang="en-US" dirty="0"/>
              <a:t>And second, all the incredibly rich data that the models learn from.</a:t>
            </a:r>
            <a:endParaRPr lang="en-US" dirty="0">
              <a:solidFill>
                <a:srgbClr val="444444"/>
              </a:solidFill>
            </a:endParaRPr>
          </a:p>
          <a:p>
            <a:r>
              <a:rPr lang="en-US" dirty="0"/>
              <a:t>So while the magic of LLMs comes not just from the transformer architecture, but also from the data, having a solid intuition of what this architecture is doing will give you better intuitions about why they behave in certain ways, as well as how to use them.</a:t>
            </a:r>
            <a:endParaRPr lang="en-US" dirty="0">
              <a:solidFill>
                <a:srgbClr val="444444"/>
              </a:solidFill>
            </a:endParaRPr>
          </a:p>
          <a:p>
            <a:endParaRPr lang="en-US" dirty="0">
              <a:solidFill>
                <a:srgbClr val="444444"/>
              </a:solidFill>
            </a:endParaRPr>
          </a:p>
          <a:p>
            <a:endParaRPr lang="en-US" dirty="0">
              <a:solidFill>
                <a:srgbClr val="444444"/>
              </a:solidFill>
            </a:endParaRPr>
          </a:p>
          <a:p>
            <a:endParaRPr lang="en-US" dirty="0">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BE6F97FD-9368-F5FE-BF17-AAE7FEED1154}"/>
              </a:ext>
            </a:extLst>
          </p:cNvPr>
          <p:cNvSpPr>
            <a:spLocks noGrp="1"/>
          </p:cNvSpPr>
          <p:nvPr>
            <p:ph type="sldNum" sz="quarter" idx="5"/>
          </p:nvPr>
        </p:nvSpPr>
        <p:spPr/>
        <p:txBody>
          <a:bodyPr/>
          <a:lstStyle/>
          <a:p>
            <a:fld id="{E48260DE-0367-455E-A135-C9E54FB29808}" type="slidenum">
              <a:t>5</a:t>
            </a:fld>
            <a:endParaRPr lang="en-US"/>
          </a:p>
        </p:txBody>
      </p:sp>
    </p:spTree>
    <p:extLst>
      <p:ext uri="{BB962C8B-B14F-4D97-AF65-F5344CB8AC3E}">
        <p14:creationId xmlns:p14="http://schemas.microsoft.com/office/powerpoint/2010/main" val="291610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93DFC-E16A-F8E4-7580-C6D566321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103D1-78A4-8AE4-77A9-F5D8A0402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F2356-4A23-2AB9-3E50-8BA54E363CE4}"/>
              </a:ext>
            </a:extLst>
          </p:cNvPr>
          <p:cNvSpPr>
            <a:spLocks noGrp="1"/>
          </p:cNvSpPr>
          <p:nvPr>
            <p:ph type="body" idx="1"/>
          </p:nvPr>
        </p:nvSpPr>
        <p:spPr/>
        <p:txBody>
          <a:bodyPr/>
          <a:lstStyle/>
          <a:p>
            <a:r>
              <a:rPr lang="en-US" dirty="0"/>
              <a:t>You will learn the evolution of how language has been represented numerically.</a:t>
            </a:r>
          </a:p>
          <a:p>
            <a:r>
              <a:rPr lang="en-US" dirty="0"/>
              <a:t>We'll start with bag of words, an algorithm that represents words as large sparse vectors or arrays of numbers, which simply record the presence of words.</a:t>
            </a:r>
            <a:endParaRPr lang="en-US" dirty="0">
              <a:ea typeface="Calibri"/>
              <a:cs typeface="Calibri"/>
            </a:endParaRPr>
          </a:p>
          <a:p>
            <a:r>
              <a:rPr lang="en-US" dirty="0"/>
              <a:t>Then Word2Vec, whose word representations capture the meaning of words in the context of a few neighboring words.</a:t>
            </a:r>
            <a:endParaRPr lang="en-US" dirty="0">
              <a:ea typeface="Calibri"/>
              <a:cs typeface="Calibri"/>
            </a:endParaRPr>
          </a:p>
          <a:p>
            <a:r>
              <a:rPr lang="en-US" dirty="0"/>
              <a:t>Finally, transformers, whose dense vectors capture the meaning of words in the context of a sentence or a paragraph.</a:t>
            </a:r>
            <a:endParaRPr lang="en-US" dirty="0">
              <a:ea typeface="Calibri"/>
              <a:cs typeface="Calibri"/>
            </a:endParaRPr>
          </a:p>
          <a:p>
            <a:r>
              <a:rPr lang="en-US" dirty="0"/>
              <a:t>All right. Let's jump in.</a:t>
            </a:r>
            <a:endParaRPr lang="en-US" dirty="0">
              <a:ea typeface="Calibri"/>
              <a:cs typeface="Calibri"/>
            </a:endParaRPr>
          </a:p>
          <a:p>
            <a:r>
              <a:rPr lang="en-US" dirty="0"/>
              <a:t>I have some illustrations that will help clarify these ideas.</a:t>
            </a:r>
            <a:endParaRPr lang="en-US" dirty="0">
              <a:ea typeface="Calibri"/>
              <a:cs typeface="Calibri"/>
            </a:endParaRPr>
          </a:p>
          <a:p>
            <a:r>
              <a:rPr lang="en-US" dirty="0"/>
              <a:t>Although we will explore a more recent history of language AI and language models, it is important to understand where we started.</a:t>
            </a:r>
            <a:endParaRPr lang="en-US" dirty="0">
              <a:ea typeface="Calibri"/>
              <a:cs typeface="Calibri"/>
            </a:endParaRPr>
          </a:p>
          <a:p>
            <a:r>
              <a:rPr lang="en-US" dirty="0"/>
              <a:t>Earlier techniques such as bag-of-words and Word2Vec have been arguably the foundation of what we're using today.</a:t>
            </a:r>
            <a:endParaRPr lang="en-US" dirty="0">
              <a:ea typeface="Calibri"/>
              <a:cs typeface="Calibri"/>
            </a:endParaRPr>
          </a:p>
          <a:p>
            <a:r>
              <a:rPr lang="en-US" dirty="0"/>
              <a:t>Although they lack contextualized representations, they are often a good baseline to start with.</a:t>
            </a:r>
            <a:endParaRPr lang="en-US" dirty="0">
              <a:ea typeface="Calibri"/>
              <a:cs typeface="Calibri"/>
            </a:endParaRPr>
          </a:p>
          <a:p>
            <a:r>
              <a:rPr lang="en-US" dirty="0"/>
              <a:t>We call these non-transformer models since today's models are typically powered solely by transformer models, in contrast to these strong baselines.</a:t>
            </a:r>
            <a:endParaRPr lang="en-US" dirty="0">
              <a:ea typeface="Calibri"/>
              <a:cs typeface="Calibri"/>
            </a:endParaRPr>
          </a:p>
          <a:p>
            <a:r>
              <a:rPr lang="en-US" dirty="0"/>
              <a:t>Then we have encoder-only models, which are great at representing language in numerical representations.</a:t>
            </a:r>
            <a:endParaRPr lang="en-US" dirty="0">
              <a:ea typeface="Calibri"/>
              <a:cs typeface="Calibri"/>
            </a:endParaRPr>
          </a:p>
          <a:p>
            <a:r>
              <a:rPr lang="en-US" dirty="0"/>
              <a:t>In contrast, decoder-only models are generative in their nature.</a:t>
            </a:r>
            <a:endParaRPr lang="en-US" dirty="0">
              <a:ea typeface="Calibri"/>
              <a:cs typeface="Calibri"/>
            </a:endParaRPr>
          </a:p>
          <a:p>
            <a:r>
              <a:rPr lang="en-US" dirty="0"/>
              <a:t>Their main usage is to generate text.</a:t>
            </a:r>
            <a:endParaRPr lang="en-US" dirty="0">
              <a:ea typeface="Calibri"/>
              <a:cs typeface="Calibri"/>
            </a:endParaRPr>
          </a:p>
          <a:p>
            <a:r>
              <a:rPr lang="en-US" dirty="0"/>
              <a:t>And finally, we have encoder-decoder models that attempt to get the best of both worlds.</a:t>
            </a:r>
            <a:endParaRPr lang="en-US" dirty="0">
              <a:ea typeface="Calibri"/>
              <a:cs typeface="Calibri"/>
            </a:endParaRPr>
          </a:p>
          <a:p>
            <a:r>
              <a:rPr lang="en-US" dirty="0"/>
              <a:t>You will learn about these non-transformer models, encoders, decoders and how they relate, as we explore this more recent history of language AI.</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DCD76F1C-14BC-D456-84DC-7826111BC653}"/>
              </a:ext>
            </a:extLst>
          </p:cNvPr>
          <p:cNvSpPr>
            <a:spLocks noGrp="1"/>
          </p:cNvSpPr>
          <p:nvPr>
            <p:ph type="sldNum" sz="quarter" idx="5"/>
          </p:nvPr>
        </p:nvSpPr>
        <p:spPr/>
        <p:txBody>
          <a:bodyPr/>
          <a:lstStyle/>
          <a:p>
            <a:fld id="{E48260DE-0367-455E-A135-C9E54FB29808}" type="slidenum">
              <a:t>6</a:t>
            </a:fld>
            <a:endParaRPr lang="en-US"/>
          </a:p>
        </p:txBody>
      </p:sp>
    </p:spTree>
    <p:extLst>
      <p:ext uri="{BB962C8B-B14F-4D97-AF65-F5344CB8AC3E}">
        <p14:creationId xmlns:p14="http://schemas.microsoft.com/office/powerpoint/2010/main" val="2727732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4D58-5468-12ED-0ECA-D8C7D0134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CD647-3E3E-7EA5-192D-2F40A7287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B42F3-5D0C-F762-1A74-F2B9715969A3}"/>
              </a:ext>
            </a:extLst>
          </p:cNvPr>
          <p:cNvSpPr>
            <a:spLocks noGrp="1"/>
          </p:cNvSpPr>
          <p:nvPr>
            <p:ph type="body" idx="1"/>
          </p:nvPr>
        </p:nvSpPr>
        <p:spPr/>
        <p:txBody>
          <a:bodyPr/>
          <a:lstStyle/>
          <a:p>
            <a:r>
              <a:rPr lang="en-US" dirty="0"/>
              <a:t>Language, however, is a tricky concept for computers.</a:t>
            </a:r>
            <a:endParaRPr lang="en-US" dirty="0">
              <a:solidFill>
                <a:srgbClr val="444444"/>
              </a:solidFill>
            </a:endParaRPr>
          </a:p>
          <a:p>
            <a:r>
              <a:rPr lang="en-US" dirty="0"/>
              <a:t>Text is unstructured in nature and loses its meaning when represented by zeros and ones or individual characters.</a:t>
            </a:r>
            <a:endParaRPr lang="en-US" dirty="0">
              <a:solidFill>
                <a:srgbClr val="444444"/>
              </a:solidFill>
            </a:endParaRPr>
          </a:p>
          <a:p>
            <a:r>
              <a:rPr lang="en-US" dirty="0"/>
              <a:t>As a result, throughout the history of language AI, there has been a large focus on representing language in a structured manner so that it can more easily be used by computers.</a:t>
            </a:r>
            <a:endParaRPr lang="en-US" dirty="0">
              <a:solidFill>
                <a:srgbClr val="444444"/>
              </a:solidFill>
            </a:endParaRPr>
          </a:p>
          <a:p>
            <a:r>
              <a:rPr lang="en-US" dirty="0"/>
              <a:t>From generating text, to creating numerical representations, and classifying textual inputs.</a:t>
            </a:r>
            <a:endParaRPr lang="en-US" dirty="0">
              <a:solidFill>
                <a:srgbClr val="444444"/>
              </a:solidFill>
            </a:endParaRPr>
          </a:p>
          <a:p>
            <a:r>
              <a:rPr lang="en-US" dirty="0"/>
              <a:t>These are just a few of the numerous tasks you can do with language AI.</a:t>
            </a:r>
            <a:endParaRPr lang="en-US" dirty="0">
              <a:solidFill>
                <a:srgbClr val="444444"/>
              </a:solidFill>
            </a:endParaRPr>
          </a:p>
          <a:p>
            <a:endParaRPr lang="en-US" dirty="0">
              <a:solidFill>
                <a:srgbClr val="444444"/>
              </a:solidFill>
            </a:endParaRPr>
          </a:p>
        </p:txBody>
      </p:sp>
      <p:sp>
        <p:nvSpPr>
          <p:cNvPr id="4" name="Slide Number Placeholder 3">
            <a:extLst>
              <a:ext uri="{FF2B5EF4-FFF2-40B4-BE49-F238E27FC236}">
                <a16:creationId xmlns:a16="http://schemas.microsoft.com/office/drawing/2014/main" id="{5401E951-B1C4-AEB1-501A-06503E254907}"/>
              </a:ext>
            </a:extLst>
          </p:cNvPr>
          <p:cNvSpPr>
            <a:spLocks noGrp="1"/>
          </p:cNvSpPr>
          <p:nvPr>
            <p:ph type="sldNum" sz="quarter" idx="5"/>
          </p:nvPr>
        </p:nvSpPr>
        <p:spPr/>
        <p:txBody>
          <a:bodyPr/>
          <a:lstStyle/>
          <a:p>
            <a:fld id="{E48260DE-0367-455E-A135-C9E54FB29808}" type="slidenum">
              <a:t>7</a:t>
            </a:fld>
            <a:endParaRPr lang="en-US"/>
          </a:p>
        </p:txBody>
      </p:sp>
    </p:spTree>
    <p:extLst>
      <p:ext uri="{BB962C8B-B14F-4D97-AF65-F5344CB8AC3E}">
        <p14:creationId xmlns:p14="http://schemas.microsoft.com/office/powerpoint/2010/main" val="2602738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BCDF-F514-3C6D-977D-C751E89C6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6D042-1C8C-D8C2-7D43-B9B0C9778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7076C-39FA-E4DC-7DF2-25B66122BD50}"/>
              </a:ext>
            </a:extLst>
          </p:cNvPr>
          <p:cNvSpPr>
            <a:spLocks noGrp="1"/>
          </p:cNvSpPr>
          <p:nvPr>
            <p:ph type="body" idx="1"/>
          </p:nvPr>
        </p:nvSpPr>
        <p:spPr/>
        <p:txBody>
          <a:bodyPr/>
          <a:lstStyle/>
          <a:p>
            <a:r>
              <a:rPr lang="en-US" dirty="0"/>
              <a:t>At the start of this language AI field, the focus was mainly on representing language to analyze unstructured data.</a:t>
            </a:r>
            <a:endParaRPr lang="en-US" dirty="0">
              <a:solidFill>
                <a:srgbClr val="444444"/>
              </a:solidFill>
            </a:endParaRPr>
          </a:p>
          <a:p>
            <a:r>
              <a:rPr lang="en-US" dirty="0"/>
              <a:t>A first and still very relevant method is by representing language as a bag-of-words.</a:t>
            </a:r>
            <a:endParaRPr lang="en-US" dirty="0">
              <a:solidFill>
                <a:srgbClr val="444444"/>
              </a:solidFill>
            </a:endParaRPr>
          </a:p>
          <a:p>
            <a:r>
              <a:rPr lang="en-US" dirty="0"/>
              <a:t>Imagine you have some input text, "That is a cute dog".</a:t>
            </a:r>
            <a:endParaRPr lang="en-US" dirty="0">
              <a:solidFill>
                <a:srgbClr val="444444"/>
              </a:solidFill>
            </a:endParaRPr>
          </a:p>
          <a:p>
            <a:r>
              <a:rPr lang="en-US" dirty="0"/>
              <a:t>To represent this sentence you can break it up into smaller pieces.</a:t>
            </a:r>
            <a:endParaRPr lang="en-US" dirty="0">
              <a:solidFill>
                <a:srgbClr val="444444"/>
              </a:solidFill>
            </a:endParaRPr>
          </a:p>
          <a:p>
            <a:r>
              <a:rPr lang="en-US" dirty="0"/>
              <a:t>To do so, you split the text into words by separating them through a whitespace.</a:t>
            </a:r>
            <a:endParaRPr lang="en-US">
              <a:solidFill>
                <a:srgbClr val="444444"/>
              </a:solidFill>
            </a:endParaRPr>
          </a:p>
          <a:p>
            <a:r>
              <a:rPr lang="en-US" dirty="0"/>
              <a:t>This process of converting the input text into pieces is called tokenization, and each individual word is called a token.</a:t>
            </a:r>
            <a:endParaRPr lang="en-US" dirty="0">
              <a:solidFill>
                <a:srgbClr val="444444"/>
              </a:solidFill>
            </a:endParaRPr>
          </a:p>
          <a:p>
            <a:r>
              <a:rPr lang="en-US" dirty="0"/>
              <a:t>Note that a token can be even smaller than an entire word, but we will go through tokenization in the next lesson in more detail.</a:t>
            </a:r>
            <a:endParaRPr lang="en-US" dirty="0">
              <a:solidFill>
                <a:srgbClr val="444444"/>
              </a:solidFill>
            </a:endParaRPr>
          </a:p>
          <a:p>
            <a:r>
              <a:rPr lang="en-US" dirty="0"/>
              <a:t>You can perform the same tokenization process with another document, "My cat is cute."</a:t>
            </a:r>
            <a:endParaRPr lang="en-US" dirty="0">
              <a:solidFill>
                <a:srgbClr val="444444"/>
              </a:solidFill>
            </a:endParaRPr>
          </a:p>
          <a:p>
            <a:r>
              <a:rPr lang="en-US" dirty="0"/>
              <a:t>Although similar documents, they do contain different words and have a different meaning.</a:t>
            </a:r>
            <a:endParaRPr lang="en-US" dirty="0">
              <a:solidFill>
                <a:srgbClr val="444444"/>
              </a:solidFill>
            </a:endParaRPr>
          </a:p>
          <a:p>
            <a:r>
              <a:rPr lang="en-US" dirty="0"/>
              <a:t>Now that you are left with two sets of tokens, you can create something called a vocabulary.</a:t>
            </a:r>
            <a:endParaRPr lang="en-US" dirty="0">
              <a:solidFill>
                <a:srgbClr val="444444"/>
              </a:solidFill>
            </a:endParaRPr>
          </a:p>
          <a:p>
            <a:r>
              <a:rPr lang="en-US" dirty="0"/>
              <a:t>This vocabulary contains all unique words or tokens found in both input documents.</a:t>
            </a:r>
            <a:endParaRPr lang="en-US" dirty="0">
              <a:solidFill>
                <a:srgbClr val="444444"/>
              </a:solidFill>
            </a:endParaRPr>
          </a:p>
          <a:p>
            <a:r>
              <a:rPr lang="en-US" dirty="0"/>
              <a:t>As such, the vocabulary will contain fewer words than the amount of tokens that were generated.</a:t>
            </a:r>
            <a:endParaRPr lang="en-US" dirty="0">
              <a:solidFill>
                <a:srgbClr val="444444"/>
              </a:solidFill>
            </a:endParaRPr>
          </a:p>
          <a:p>
            <a:r>
              <a:rPr lang="en-US" dirty="0"/>
              <a:t>And we typically refer to the number of tokens or words in the vocabulary as the vocabulary size.</a:t>
            </a:r>
            <a:endParaRPr lang="en-US" dirty="0">
              <a:solidFill>
                <a:srgbClr val="444444"/>
              </a:solidFill>
            </a:endParaRPr>
          </a:p>
          <a:p>
            <a:r>
              <a:rPr lang="en-US" dirty="0"/>
              <a:t>To then represent one of our inputs with numerical values, let's focus a bit on our second input, "My cat is cute."</a:t>
            </a:r>
            <a:endParaRPr lang="en-US" dirty="0">
              <a:solidFill>
                <a:srgbClr val="444444"/>
              </a:solidFill>
            </a:endParaRPr>
          </a:p>
          <a:p>
            <a:r>
              <a:rPr lang="en-US" dirty="0"/>
              <a:t>This input has four tokens that match with some of the words in the vocabulary, but not all.</a:t>
            </a:r>
            <a:endParaRPr lang="en-US" dirty="0">
              <a:solidFill>
                <a:srgbClr val="444444"/>
              </a:solidFill>
            </a:endParaRPr>
          </a:p>
          <a:p>
            <a:r>
              <a:rPr lang="en-US" dirty="0"/>
              <a:t>You can then count how often a certain token appears in the vocabulary that we already created.</a:t>
            </a:r>
            <a:endParaRPr lang="en-US" dirty="0">
              <a:solidFill>
                <a:srgbClr val="444444"/>
              </a:solidFill>
            </a:endParaRPr>
          </a:p>
          <a:p>
            <a:r>
              <a:rPr lang="en-US" dirty="0"/>
              <a:t>In this case, each token appears once.</a:t>
            </a:r>
            <a:endParaRPr lang="en-US" dirty="0">
              <a:solidFill>
                <a:srgbClr val="444444"/>
              </a:solidFill>
            </a:endParaRPr>
          </a:p>
          <a:p>
            <a:r>
              <a:rPr lang="en-US" dirty="0"/>
              <a:t>However, you will also have to take note of the words in the vocabulary that do not appear in the input.</a:t>
            </a:r>
            <a:endParaRPr lang="en-US" dirty="0">
              <a:solidFill>
                <a:srgbClr val="444444"/>
              </a:solidFill>
            </a:endParaRPr>
          </a:p>
          <a:p>
            <a:r>
              <a:rPr lang="en-US" dirty="0"/>
              <a:t>A sentence not only gives meaning to the words it contains, but also the words it doesn't.</a:t>
            </a:r>
            <a:endParaRPr lang="en-US" dirty="0">
              <a:solidFill>
                <a:srgbClr val="444444"/>
              </a:solidFill>
            </a:endParaRPr>
          </a:p>
          <a:p>
            <a:r>
              <a:rPr lang="en-US" dirty="0"/>
              <a:t>Now that you have counted how often the words or tokens of our input appear in the vocabulary, you have created your numerical representation.</a:t>
            </a:r>
            <a:endParaRPr lang="en-US" dirty="0">
              <a:solidFill>
                <a:srgbClr val="444444"/>
              </a:solidFill>
            </a:endParaRPr>
          </a:p>
          <a:p>
            <a:r>
              <a:rPr lang="en-US" dirty="0"/>
              <a:t>This is called a bag-of-words, and does nothing more than counting individual words that appear in the vocabulary.</a:t>
            </a:r>
            <a:endParaRPr lang="en-US" dirty="0">
              <a:solidFill>
                <a:srgbClr val="444444"/>
              </a:solidFill>
            </a:endParaRPr>
          </a:p>
          <a:p>
            <a:r>
              <a:rPr lang="en-US" dirty="0"/>
              <a:t>Therefore, the numerical representation of "My cat is cute" is 0101011, in that specific order. The order is important as it allows us to compare different sentences to one another.</a:t>
            </a:r>
            <a:endParaRPr lang="en-US" dirty="0">
              <a:solidFill>
                <a:srgbClr val="444444"/>
              </a:solidFill>
            </a:endParaRPr>
          </a:p>
          <a:p>
            <a:r>
              <a:rPr lang="en-US" dirty="0"/>
              <a:t>In practice, we call this a vector representation, a list of numerical values that represents the input.</a:t>
            </a:r>
            <a:endParaRPr lang="en-US" dirty="0">
              <a:solidFill>
                <a:srgbClr val="444444"/>
              </a:solidFill>
            </a:endParaRPr>
          </a:p>
          <a:p>
            <a:r>
              <a:rPr lang="en-US" dirty="0"/>
              <a:t>In this example, these values are counts and have an explicit meaning, namely, the number of times a word in the vocabulary appears in the input.</a:t>
            </a:r>
            <a:endParaRPr lang="en-US" dirty="0">
              <a:solidFill>
                <a:srgbClr val="444444"/>
              </a:solidFill>
            </a:endParaRPr>
          </a:p>
          <a:p>
            <a:r>
              <a:rPr lang="en-US" dirty="0"/>
              <a:t>Vector representations, in more complex and advanced models, typically do not have such an intuitive meaning, and have values between 0 and 1.</a:t>
            </a:r>
            <a:endParaRPr lang="en-US" dirty="0">
              <a:solidFill>
                <a:srgbClr val="444444"/>
              </a:solidFill>
            </a:endParaRPr>
          </a:p>
          <a:p>
            <a:endParaRPr lang="en-US" dirty="0">
              <a:solidFill>
                <a:srgbClr val="444444"/>
              </a:solidFill>
            </a:endParaRPr>
          </a:p>
          <a:p>
            <a:endParaRPr lang="en-US" dirty="0">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563564B9-374C-5525-54A2-7A183CFD61A7}"/>
              </a:ext>
            </a:extLst>
          </p:cNvPr>
          <p:cNvSpPr>
            <a:spLocks noGrp="1"/>
          </p:cNvSpPr>
          <p:nvPr>
            <p:ph type="sldNum" sz="quarter" idx="5"/>
          </p:nvPr>
        </p:nvSpPr>
        <p:spPr/>
        <p:txBody>
          <a:bodyPr/>
          <a:lstStyle/>
          <a:p>
            <a:fld id="{E48260DE-0367-455E-A135-C9E54FB29808}" type="slidenum">
              <a:t>8</a:t>
            </a:fld>
            <a:endParaRPr lang="en-US"/>
          </a:p>
        </p:txBody>
      </p:sp>
    </p:spTree>
    <p:extLst>
      <p:ext uri="{BB962C8B-B14F-4D97-AF65-F5344CB8AC3E}">
        <p14:creationId xmlns:p14="http://schemas.microsoft.com/office/powerpoint/2010/main" val="683732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7303-668E-E923-93A4-8068DF3F7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C2CFC-D364-20F1-DEAF-D45662E6A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01CAF-1B1F-F5C6-1CF3-C1E6A085DF81}"/>
              </a:ext>
            </a:extLst>
          </p:cNvPr>
          <p:cNvSpPr>
            <a:spLocks noGrp="1"/>
          </p:cNvSpPr>
          <p:nvPr>
            <p:ph type="body" idx="1"/>
          </p:nvPr>
        </p:nvSpPr>
        <p:spPr/>
        <p:txBody>
          <a:bodyPr/>
          <a:lstStyle/>
          <a:p>
            <a:r>
              <a:rPr lang="en-US" dirty="0">
                <a:solidFill>
                  <a:srgbClr val="000000"/>
                </a:solidFill>
              </a:rPr>
              <a:t>Let's explore how these more complex vector embeddings are created.</a:t>
            </a:r>
            <a:endParaRPr lang="en-US" dirty="0"/>
          </a:p>
          <a:p>
            <a:r>
              <a:rPr lang="en-US" dirty="0">
                <a:solidFill>
                  <a:srgbClr val="000000"/>
                </a:solidFill>
              </a:rPr>
              <a:t>Note that bag-of-words, although an elegant approach, has a flaw.</a:t>
            </a:r>
            <a:endParaRPr lang="en-US" dirty="0"/>
          </a:p>
          <a:p>
            <a:r>
              <a:rPr lang="en-US" dirty="0">
                <a:solidFill>
                  <a:srgbClr val="000000"/>
                </a:solidFill>
              </a:rPr>
              <a:t>It considers language to be nothing more than an almost literal bag-of-words, and ignores the semantic nature or meaning of text.</a:t>
            </a:r>
            <a:endParaRPr lang="en-US" dirty="0"/>
          </a:p>
          <a:p>
            <a:r>
              <a:rPr lang="en-US" dirty="0">
                <a:solidFill>
                  <a:srgbClr val="000000"/>
                </a:solidFill>
              </a:rPr>
              <a:t>Released in 2013, Word2Vec was one of the first successful attempts at capturing the meaning of text in embeddings.</a:t>
            </a:r>
            <a:endParaRPr lang="en-US" dirty="0"/>
          </a:p>
          <a:p>
            <a:r>
              <a:rPr lang="en-US" dirty="0">
                <a:solidFill>
                  <a:srgbClr val="000000"/>
                </a:solidFill>
              </a:rPr>
              <a:t>To do so, Word2Vec learned semantic representations of words by training on vast amounts of textual data, like the entirety of Wikipedia.</a:t>
            </a:r>
            <a:endParaRPr lang="en-US" dirty="0"/>
          </a:p>
          <a:p>
            <a:r>
              <a:rPr lang="en-US" dirty="0">
                <a:solidFill>
                  <a:srgbClr val="000000"/>
                </a:solidFill>
              </a:rPr>
              <a:t>To generate these semantic representations, Word2Vec leverages neural networks.</a:t>
            </a:r>
            <a:endParaRPr lang="en-US" dirty="0"/>
          </a:p>
          <a:p>
            <a:r>
              <a:rPr lang="en-US" dirty="0">
                <a:solidFill>
                  <a:srgbClr val="000000"/>
                </a:solidFill>
              </a:rPr>
              <a:t>These networks consist of interconnected layers of nodes that process information.</a:t>
            </a:r>
            <a:endParaRPr lang="en-US" dirty="0"/>
          </a:p>
          <a:p>
            <a:r>
              <a:rPr lang="en-US" dirty="0">
                <a:solidFill>
                  <a:srgbClr val="000000"/>
                </a:solidFill>
              </a:rPr>
              <a:t>Neural networks can have many layers, where each connection has a certain weight depending on the inputs.</a:t>
            </a:r>
            <a:endParaRPr lang="en-US" dirty="0"/>
          </a:p>
          <a:p>
            <a:r>
              <a:rPr lang="en-US" dirty="0">
                <a:solidFill>
                  <a:srgbClr val="000000"/>
                </a:solidFill>
              </a:rPr>
              <a:t>These weights are often referred to as parameters of the model.</a:t>
            </a:r>
            <a:endParaRPr lang="en-US" dirty="0"/>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6ECED64D-B11C-27F8-75E4-A87FD36B0D6B}"/>
              </a:ext>
            </a:extLst>
          </p:cNvPr>
          <p:cNvSpPr>
            <a:spLocks noGrp="1"/>
          </p:cNvSpPr>
          <p:nvPr>
            <p:ph type="sldNum" sz="quarter" idx="5"/>
          </p:nvPr>
        </p:nvSpPr>
        <p:spPr/>
        <p:txBody>
          <a:bodyPr/>
          <a:lstStyle/>
          <a:p>
            <a:fld id="{E48260DE-0367-455E-A135-C9E54FB29808}" type="slidenum">
              <a:t>9</a:t>
            </a:fld>
            <a:endParaRPr lang="en-US"/>
          </a:p>
        </p:txBody>
      </p:sp>
    </p:spTree>
    <p:extLst>
      <p:ext uri="{BB962C8B-B14F-4D97-AF65-F5344CB8AC3E}">
        <p14:creationId xmlns:p14="http://schemas.microsoft.com/office/powerpoint/2010/main" val="1056982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63EB-6595-70FC-10BA-3FC6A9441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87C19-58E8-C08F-EB45-89C0B3CED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2884D-60A7-7523-44FE-D5083AF3E84F}"/>
              </a:ext>
            </a:extLst>
          </p:cNvPr>
          <p:cNvSpPr>
            <a:spLocks noGrp="1"/>
          </p:cNvSpPr>
          <p:nvPr>
            <p:ph type="body" idx="1"/>
          </p:nvPr>
        </p:nvSpPr>
        <p:spPr/>
        <p:txBody>
          <a:bodyPr/>
          <a:lstStyle/>
          <a:p>
            <a:r>
              <a:rPr lang="en-US" dirty="0">
                <a:solidFill>
                  <a:srgbClr val="000000"/>
                </a:solidFill>
              </a:rPr>
              <a:t>Using these neural networks, Word2Vec generates word embeddings by looking at which other words they tend to appear next to in a given sentence.</a:t>
            </a:r>
            <a:endParaRPr lang="en-US">
              <a:solidFill>
                <a:srgbClr val="444444"/>
              </a:solidFill>
            </a:endParaRPr>
          </a:p>
          <a:p>
            <a:r>
              <a:rPr lang="en-US" dirty="0">
                <a:solidFill>
                  <a:srgbClr val="000000"/>
                </a:solidFill>
              </a:rPr>
              <a:t>You start by assigning every word in your vocabulary a vector embedding, say five values for each word, initialized with random values.</a:t>
            </a:r>
            <a:endParaRPr lang="en-US">
              <a:solidFill>
                <a:srgbClr val="444444"/>
              </a:solidFill>
            </a:endParaRPr>
          </a:p>
          <a:p>
            <a:r>
              <a:rPr lang="en-US" dirty="0">
                <a:solidFill>
                  <a:srgbClr val="000000"/>
                </a:solidFill>
              </a:rPr>
              <a:t>Then in every training step, you take pairs of words from training data, and the model attempts to predict whether or not they are likely to be neighbors in a sentence.</a:t>
            </a:r>
            <a:endParaRPr lang="en-US">
              <a:solidFill>
                <a:srgbClr val="444444"/>
              </a:solidFill>
            </a:endParaRPr>
          </a:p>
          <a:p>
            <a:r>
              <a:rPr lang="en-US" dirty="0">
                <a:solidFill>
                  <a:srgbClr val="000000"/>
                </a:solidFill>
              </a:rPr>
              <a:t>During this training process, Word2Vec learns the relationship between words and distills that information into the embedding.</a:t>
            </a:r>
            <a:endParaRPr lang="en-US">
              <a:solidFill>
                <a:srgbClr val="444444"/>
              </a:solidFill>
            </a:endParaRPr>
          </a:p>
          <a:p>
            <a:r>
              <a:rPr lang="en-US" dirty="0">
                <a:solidFill>
                  <a:srgbClr val="000000"/>
                </a:solidFill>
              </a:rPr>
              <a:t>If two words tend to have the same neighbors, their embeddings will be closer to one another and vice versa.</a:t>
            </a:r>
            <a:endParaRPr lang="en-US" dirty="0">
              <a:solidFill>
                <a:srgbClr val="444444"/>
              </a:solidFill>
            </a:endParaRPr>
          </a:p>
          <a:p>
            <a:r>
              <a:rPr lang="en-US" dirty="0">
                <a:solidFill>
                  <a:srgbClr val="000000"/>
                </a:solidFill>
              </a:rPr>
              <a:t>The resulting embeddings capture the meaning of words.</a:t>
            </a:r>
            <a:endParaRPr lang="en-US" dirty="0">
              <a:solidFill>
                <a:srgbClr val="444444"/>
              </a:solidFill>
            </a:endParaRPr>
          </a:p>
          <a:p>
            <a:r>
              <a:rPr lang="en-US" dirty="0">
                <a:solidFill>
                  <a:srgbClr val="000000"/>
                </a:solidFill>
              </a:rPr>
              <a:t>But what exactly does that mean?</a:t>
            </a:r>
            <a:endParaRPr lang="en-US" dirty="0">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520B50D7-568F-57FC-20CE-3DDABA09B39A}"/>
              </a:ext>
            </a:extLst>
          </p:cNvPr>
          <p:cNvSpPr>
            <a:spLocks noGrp="1"/>
          </p:cNvSpPr>
          <p:nvPr>
            <p:ph type="sldNum" sz="quarter" idx="5"/>
          </p:nvPr>
        </p:nvSpPr>
        <p:spPr/>
        <p:txBody>
          <a:bodyPr/>
          <a:lstStyle/>
          <a:p>
            <a:fld id="{E48260DE-0367-455E-A135-C9E54FB29808}" type="slidenum">
              <a:t>10</a:t>
            </a:fld>
            <a:endParaRPr lang="en-US"/>
          </a:p>
        </p:txBody>
      </p:sp>
    </p:spTree>
    <p:extLst>
      <p:ext uri="{BB962C8B-B14F-4D97-AF65-F5344CB8AC3E}">
        <p14:creationId xmlns:p14="http://schemas.microsoft.com/office/powerpoint/2010/main" val="569284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71121-C077-690A-9FA2-82DA792C9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C6912-0E1D-778A-A78B-6970E6799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15FF6-856F-1768-ED43-D3138C548453}"/>
              </a:ext>
            </a:extLst>
          </p:cNvPr>
          <p:cNvSpPr>
            <a:spLocks noGrp="1"/>
          </p:cNvSpPr>
          <p:nvPr>
            <p:ph type="body" idx="1"/>
          </p:nvPr>
        </p:nvSpPr>
        <p:spPr/>
        <p:txBody>
          <a:bodyPr/>
          <a:lstStyle/>
          <a:p>
            <a:r>
              <a:rPr lang="en-US" dirty="0">
                <a:solidFill>
                  <a:srgbClr val="000000"/>
                </a:solidFill>
              </a:rPr>
              <a:t>To illustrate this phenomenon, let's explore an example.</a:t>
            </a:r>
            <a:endParaRPr lang="en-US">
              <a:solidFill>
                <a:srgbClr val="444444"/>
              </a:solidFill>
            </a:endParaRPr>
          </a:p>
          <a:p>
            <a:r>
              <a:rPr lang="en-US" dirty="0">
                <a:solidFill>
                  <a:srgbClr val="000000"/>
                </a:solidFill>
              </a:rPr>
              <a:t>Assume that you have an embedding for the word "cats".</a:t>
            </a:r>
            <a:endParaRPr lang="en-US">
              <a:solidFill>
                <a:srgbClr val="444444"/>
              </a:solidFill>
            </a:endParaRPr>
          </a:p>
          <a:p>
            <a:r>
              <a:rPr lang="en-US" dirty="0">
                <a:solidFill>
                  <a:srgbClr val="000000"/>
                </a:solidFill>
              </a:rPr>
              <a:t>This embedding generates values between -1 and 1.</a:t>
            </a:r>
            <a:endParaRPr lang="en-US">
              <a:solidFill>
                <a:srgbClr val="444444"/>
              </a:solidFill>
            </a:endParaRPr>
          </a:p>
          <a:p>
            <a:r>
              <a:rPr lang="en-US" dirty="0">
                <a:solidFill>
                  <a:srgbClr val="000000"/>
                </a:solidFill>
              </a:rPr>
              <a:t>Embeddings attempt to capture meaning by representing the properties of words.</a:t>
            </a:r>
            <a:endParaRPr lang="en-US">
              <a:solidFill>
                <a:srgbClr val="444444"/>
              </a:solidFill>
            </a:endParaRPr>
          </a:p>
          <a:p>
            <a:r>
              <a:rPr lang="en-US" dirty="0">
                <a:solidFill>
                  <a:srgbClr val="000000"/>
                </a:solidFill>
              </a:rPr>
              <a:t>For instance, the word "cats" might score low on the properties newborn, human, and fruits, while scoring high on the properties animal and plural.</a:t>
            </a:r>
            <a:endParaRPr lang="en-US" dirty="0">
              <a:solidFill>
                <a:srgbClr val="444444"/>
              </a:solidFill>
            </a:endParaRPr>
          </a:p>
          <a:p>
            <a:r>
              <a:rPr lang="en-US" dirty="0">
                <a:solidFill>
                  <a:srgbClr val="000000"/>
                </a:solidFill>
              </a:rPr>
              <a:t>The number of properties or values </a:t>
            </a:r>
            <a:r>
              <a:rPr lang="en-US" dirty="0" err="1">
                <a:solidFill>
                  <a:srgbClr val="000000"/>
                </a:solidFill>
              </a:rPr>
              <a:t>an</a:t>
            </a:r>
            <a:r>
              <a:rPr lang="en-US" dirty="0">
                <a:solidFill>
                  <a:srgbClr val="000000"/>
                </a:solidFill>
              </a:rPr>
              <a:t> embedding has is called the number of dimensions, and is generally a fixed size.</a:t>
            </a:r>
            <a:endParaRPr lang="en-US" dirty="0">
              <a:solidFill>
                <a:srgbClr val="444444"/>
              </a:solidFill>
            </a:endParaRPr>
          </a:p>
          <a:p>
            <a:r>
              <a:rPr lang="en-US" dirty="0">
                <a:solidFill>
                  <a:srgbClr val="000000"/>
                </a:solidFill>
              </a:rPr>
              <a:t>The same can be said for other words, such as puppy, which scores high on animal and newborn, but low on all others.</a:t>
            </a:r>
            <a:endParaRPr lang="en-US" dirty="0">
              <a:solidFill>
                <a:srgbClr val="444444"/>
              </a:solidFill>
            </a:endParaRPr>
          </a:p>
          <a:p>
            <a:r>
              <a:rPr lang="en-US" dirty="0">
                <a:solidFill>
                  <a:srgbClr val="000000"/>
                </a:solidFill>
              </a:rPr>
              <a:t>By doing this for a number of words, you can use these values to get a proxy of the meaning of these words.</a:t>
            </a:r>
            <a:endParaRPr lang="en-US" dirty="0">
              <a:solidFill>
                <a:srgbClr val="444444"/>
              </a:solidFill>
            </a:endParaRPr>
          </a:p>
          <a:p>
            <a:r>
              <a:rPr lang="en-US" dirty="0">
                <a:solidFill>
                  <a:srgbClr val="000000"/>
                </a:solidFill>
              </a:rPr>
              <a:t>Note that the number of dimensions can be quite large, and it is not uncommon to see embeddings with more than a thousand values.</a:t>
            </a:r>
            <a:endParaRPr lang="en-US" dirty="0">
              <a:solidFill>
                <a:srgbClr val="444444"/>
              </a:solidFill>
            </a:endParaRPr>
          </a:p>
          <a:p>
            <a:r>
              <a:rPr lang="en-US" dirty="0">
                <a:solidFill>
                  <a:srgbClr val="000000"/>
                </a:solidFill>
              </a:rPr>
              <a:t>However, in practice, you do not actually know what these properties exactly represent, as they are learned through complex mathematical calculations.</a:t>
            </a:r>
            <a:endParaRPr lang="en-US" dirty="0">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C0745349-866D-917C-A822-F64E18E9FCC7}"/>
              </a:ext>
            </a:extLst>
          </p:cNvPr>
          <p:cNvSpPr>
            <a:spLocks noGrp="1"/>
          </p:cNvSpPr>
          <p:nvPr>
            <p:ph type="sldNum" sz="quarter" idx="5"/>
          </p:nvPr>
        </p:nvSpPr>
        <p:spPr/>
        <p:txBody>
          <a:bodyPr/>
          <a:lstStyle/>
          <a:p>
            <a:fld id="{E48260DE-0367-455E-A135-C9E54FB29808}" type="slidenum">
              <a:t>11</a:t>
            </a:fld>
            <a:endParaRPr lang="en-US"/>
          </a:p>
        </p:txBody>
      </p:sp>
    </p:spTree>
    <p:extLst>
      <p:ext uri="{BB962C8B-B14F-4D97-AF65-F5344CB8AC3E}">
        <p14:creationId xmlns:p14="http://schemas.microsoft.com/office/powerpoint/2010/main" val="534462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2353B-EC8D-C6D0-383F-F8A8315CC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E8823-55CD-5FF8-6151-74064DEC9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5D9E6-3ACC-C765-D991-13C9AD320CB2}"/>
              </a:ext>
            </a:extLst>
          </p:cNvPr>
          <p:cNvSpPr>
            <a:spLocks noGrp="1"/>
          </p:cNvSpPr>
          <p:nvPr>
            <p:ph type="body" idx="1"/>
          </p:nvPr>
        </p:nvSpPr>
        <p:spPr/>
        <p:txBody>
          <a:bodyPr/>
          <a:lstStyle/>
          <a:p>
            <a:r>
              <a:rPr lang="en-US" dirty="0">
                <a:solidFill>
                  <a:srgbClr val="000000"/>
                </a:solidFill>
              </a:rPr>
              <a:t>These properties do allow you to compare embeddings and therefore words with one another.</a:t>
            </a:r>
            <a:endParaRPr lang="en-US" dirty="0">
              <a:solidFill>
                <a:srgbClr val="444444"/>
              </a:solidFill>
            </a:endParaRPr>
          </a:p>
          <a:p>
            <a:r>
              <a:rPr lang="en-US" dirty="0">
                <a:solidFill>
                  <a:srgbClr val="000000"/>
                </a:solidFill>
              </a:rPr>
              <a:t>Words with similar meaning will be grouped together, whereas different words are further apart.</a:t>
            </a:r>
            <a:endParaRPr lang="en-US">
              <a:solidFill>
                <a:srgbClr val="444444"/>
              </a:solidFill>
            </a:endParaRPr>
          </a:p>
          <a:p>
            <a:r>
              <a:rPr lang="en-US" dirty="0">
                <a:solidFill>
                  <a:srgbClr val="000000"/>
                </a:solidFill>
              </a:rPr>
              <a:t>How similar or dissimilar certain words are depends on the training data.</a:t>
            </a:r>
            <a:endParaRPr lang="en-US">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038BD349-4CAA-C1A0-03E8-BA8BE1FA8E21}"/>
              </a:ext>
            </a:extLst>
          </p:cNvPr>
          <p:cNvSpPr>
            <a:spLocks noGrp="1"/>
          </p:cNvSpPr>
          <p:nvPr>
            <p:ph type="sldNum" sz="quarter" idx="5"/>
          </p:nvPr>
        </p:nvSpPr>
        <p:spPr/>
        <p:txBody>
          <a:bodyPr/>
          <a:lstStyle/>
          <a:p>
            <a:fld id="{E48260DE-0367-455E-A135-C9E54FB29808}" type="slidenum">
              <a:t>10</a:t>
            </a:fld>
            <a:endParaRPr lang="en-US"/>
          </a:p>
        </p:txBody>
      </p:sp>
    </p:spTree>
    <p:extLst>
      <p:ext uri="{BB962C8B-B14F-4D97-AF65-F5344CB8AC3E}">
        <p14:creationId xmlns:p14="http://schemas.microsoft.com/office/powerpoint/2010/main" val="1513049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24391-3007-8B68-35E8-7EDEB211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1F59E-C1E5-0A16-E3E7-2A7C1E470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23D1D-090E-2E80-B51B-2DA640968C4B}"/>
              </a:ext>
            </a:extLst>
          </p:cNvPr>
          <p:cNvSpPr>
            <a:spLocks noGrp="1"/>
          </p:cNvSpPr>
          <p:nvPr>
            <p:ph type="body" idx="1"/>
          </p:nvPr>
        </p:nvSpPr>
        <p:spPr/>
        <p:txBody>
          <a:bodyPr/>
          <a:lstStyle/>
          <a:p>
            <a:r>
              <a:rPr lang="en-US" dirty="0">
                <a:solidFill>
                  <a:srgbClr val="000000"/>
                </a:solidFill>
              </a:rPr>
              <a:t>Thus far we explored word embeddings, but there are many types of embeddings that we can use.</a:t>
            </a:r>
            <a:endParaRPr lang="en-US" dirty="0">
              <a:solidFill>
                <a:srgbClr val="444444"/>
              </a:solidFill>
            </a:endParaRPr>
          </a:p>
          <a:p>
            <a:r>
              <a:rPr lang="en-US" dirty="0">
                <a:solidFill>
                  <a:srgbClr val="000000"/>
                </a:solidFill>
              </a:rPr>
              <a:t>When we talk about a model like Word2Vec that converts textual input to embeddings, we refer to it as a representation model, as it attempts to represent text as values.</a:t>
            </a:r>
            <a:endParaRPr lang="en-US" dirty="0">
              <a:solidFill>
                <a:srgbClr val="444444"/>
              </a:solidFill>
            </a:endParaRPr>
          </a:p>
          <a:p>
            <a:r>
              <a:rPr lang="en-US" dirty="0">
                <a:solidFill>
                  <a:srgbClr val="000000"/>
                </a:solidFill>
              </a:rPr>
              <a:t>Imagine that you have some input, for example, the sentence "Her vocalization was melodic."</a:t>
            </a:r>
            <a:endParaRPr lang="en-US" dirty="0">
              <a:solidFill>
                <a:srgbClr val="444444"/>
              </a:solidFill>
            </a:endParaRPr>
          </a:p>
          <a:p>
            <a:r>
              <a:rPr lang="en-US" dirty="0">
                <a:solidFill>
                  <a:srgbClr val="000000"/>
                </a:solidFill>
              </a:rPr>
              <a:t>Through tokenization, you can split the sentence up into tokens.</a:t>
            </a:r>
            <a:endParaRPr lang="en-US" dirty="0">
              <a:solidFill>
                <a:srgbClr val="444444"/>
              </a:solidFill>
            </a:endParaRPr>
          </a:p>
          <a:p>
            <a:r>
              <a:rPr lang="en-US" dirty="0">
                <a:solidFill>
                  <a:srgbClr val="000000"/>
                </a:solidFill>
              </a:rPr>
              <a:t>Note that this procedure is actually not splitting the input by white spaces.</a:t>
            </a:r>
            <a:endParaRPr lang="en-US" dirty="0">
              <a:solidFill>
                <a:srgbClr val="444444"/>
              </a:solidFill>
            </a:endParaRPr>
          </a:p>
          <a:p>
            <a:r>
              <a:rPr lang="en-US" dirty="0">
                <a:solidFill>
                  <a:srgbClr val="000000"/>
                </a:solidFill>
              </a:rPr>
              <a:t>The word vocalization is split up into vocal and </a:t>
            </a:r>
            <a:r>
              <a:rPr lang="en-US" dirty="0" err="1">
                <a:solidFill>
                  <a:srgbClr val="000000"/>
                </a:solidFill>
              </a:rPr>
              <a:t>ization</a:t>
            </a:r>
            <a:r>
              <a:rPr lang="en-US" dirty="0">
                <a:solidFill>
                  <a:srgbClr val="000000"/>
                </a:solidFill>
              </a:rPr>
              <a:t>.</a:t>
            </a:r>
            <a:endParaRPr lang="en-US" dirty="0">
              <a:solidFill>
                <a:srgbClr val="444444"/>
              </a:solidFill>
            </a:endParaRPr>
          </a:p>
          <a:p>
            <a:r>
              <a:rPr lang="en-US" dirty="0">
                <a:solidFill>
                  <a:srgbClr val="000000"/>
                </a:solidFill>
              </a:rPr>
              <a:t>The reason for this is that models that perform tokenization, also called tokenizers, have a fixed vocabulary.</a:t>
            </a:r>
            <a:endParaRPr lang="en-US" dirty="0">
              <a:solidFill>
                <a:srgbClr val="444444"/>
              </a:solidFill>
            </a:endParaRPr>
          </a:p>
          <a:p>
            <a:r>
              <a:rPr lang="en-US" dirty="0">
                <a:solidFill>
                  <a:srgbClr val="000000"/>
                </a:solidFill>
              </a:rPr>
              <a:t>As such, they cannot represent all words that exist, but sometimes have to find combinations of words.</a:t>
            </a:r>
            <a:endParaRPr lang="en-US" dirty="0">
              <a:solidFill>
                <a:srgbClr val="444444"/>
              </a:solidFill>
            </a:endParaRPr>
          </a:p>
          <a:p>
            <a:r>
              <a:rPr lang="en-US" dirty="0">
                <a:solidFill>
                  <a:srgbClr val="000000"/>
                </a:solidFill>
              </a:rPr>
              <a:t>You give the representation model these individual tokens, which in turn generates embeddings, one for each token.</a:t>
            </a:r>
            <a:endParaRPr lang="en-US" dirty="0">
              <a:solidFill>
                <a:srgbClr val="444444"/>
              </a:solidFill>
            </a:endParaRPr>
          </a:p>
          <a:p>
            <a:r>
              <a:rPr lang="en-US" dirty="0">
                <a:solidFill>
                  <a:srgbClr val="000000"/>
                </a:solidFill>
              </a:rPr>
              <a:t>Note that the word vocalization contains the tokens vocal and </a:t>
            </a:r>
            <a:r>
              <a:rPr lang="en-US" dirty="0" err="1">
                <a:solidFill>
                  <a:srgbClr val="000000"/>
                </a:solidFill>
              </a:rPr>
              <a:t>ization</a:t>
            </a:r>
            <a:r>
              <a:rPr lang="en-US" dirty="0">
                <a:solidFill>
                  <a:srgbClr val="000000"/>
                </a:solidFill>
              </a:rPr>
              <a:t>.</a:t>
            </a:r>
            <a:endParaRPr lang="en-US" dirty="0">
              <a:solidFill>
                <a:srgbClr val="444444"/>
              </a:solidFill>
            </a:endParaRPr>
          </a:p>
          <a:p>
            <a:r>
              <a:rPr lang="en-US" dirty="0">
                <a:solidFill>
                  <a:srgbClr val="000000"/>
                </a:solidFill>
              </a:rPr>
              <a:t>So when you average the embeddings of these tokens, you get a word embedding, as it now represents the entire word.</a:t>
            </a:r>
            <a:endParaRPr lang="en-US" dirty="0">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C5709658-6444-25B3-150F-32CEFF41925D}"/>
              </a:ext>
            </a:extLst>
          </p:cNvPr>
          <p:cNvSpPr>
            <a:spLocks noGrp="1"/>
          </p:cNvSpPr>
          <p:nvPr>
            <p:ph type="sldNum" sz="quarter" idx="5"/>
          </p:nvPr>
        </p:nvSpPr>
        <p:spPr/>
        <p:txBody>
          <a:bodyPr/>
          <a:lstStyle/>
          <a:p>
            <a:fld id="{E48260DE-0367-455E-A135-C9E54FB29808}" type="slidenum">
              <a:t>13</a:t>
            </a:fld>
            <a:endParaRPr lang="en-US"/>
          </a:p>
        </p:txBody>
      </p:sp>
    </p:spTree>
    <p:extLst>
      <p:ext uri="{BB962C8B-B14F-4D97-AF65-F5344CB8AC3E}">
        <p14:creationId xmlns:p14="http://schemas.microsoft.com/office/powerpoint/2010/main" val="2758230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7097-8CF4-08C3-9D15-702094715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069E7-964C-3F66-5AE4-1DED38B15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C5FFF-CA30-9980-A760-F3C5C9C27184}"/>
              </a:ext>
            </a:extLst>
          </p:cNvPr>
          <p:cNvSpPr>
            <a:spLocks noGrp="1"/>
          </p:cNvSpPr>
          <p:nvPr>
            <p:ph type="body" idx="1"/>
          </p:nvPr>
        </p:nvSpPr>
        <p:spPr/>
        <p:txBody>
          <a:bodyPr/>
          <a:lstStyle/>
          <a:p>
            <a:r>
              <a:rPr lang="en-US" dirty="0">
                <a:solidFill>
                  <a:srgbClr val="000000"/>
                </a:solidFill>
              </a:rPr>
              <a:t>Similar techniques can be used for entire sentences to create sentence embeddings, and the same for longer texts such as documents to create document embeddings.</a:t>
            </a:r>
            <a:endParaRPr lang="en-US" dirty="0">
              <a:solidFill>
                <a:srgbClr val="444444"/>
              </a:solidFill>
            </a:endParaRPr>
          </a:p>
          <a:p>
            <a:r>
              <a:rPr lang="en-US" dirty="0">
                <a:solidFill>
                  <a:srgbClr val="000000"/>
                </a:solidFill>
              </a:rPr>
              <a:t>These are just a few of the many embeddings that exist.</a:t>
            </a:r>
            <a:endParaRPr lang="en-US" dirty="0">
              <a:solidFill>
                <a:srgbClr val="444444"/>
              </a:solidFill>
            </a:endParaRPr>
          </a:p>
          <a:p>
            <a:r>
              <a:rPr lang="en-US" dirty="0">
                <a:solidFill>
                  <a:srgbClr val="000000"/>
                </a:solidFill>
              </a:rPr>
              <a:t>Let's how you can encode and decode contextualized information, rather than static representations.</a:t>
            </a:r>
            <a:endParaRPr lang="en-US" dirty="0">
              <a:solidFill>
                <a:srgbClr val="444444"/>
              </a:solidFill>
            </a:endParaRPr>
          </a:p>
          <a:p>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86D3E8F3-9941-93DF-4E6F-8A6152F61895}"/>
              </a:ext>
            </a:extLst>
          </p:cNvPr>
          <p:cNvSpPr>
            <a:spLocks noGrp="1"/>
          </p:cNvSpPr>
          <p:nvPr>
            <p:ph type="sldNum" sz="quarter" idx="5"/>
          </p:nvPr>
        </p:nvSpPr>
        <p:spPr/>
        <p:txBody>
          <a:bodyPr/>
          <a:lstStyle/>
          <a:p>
            <a:fld id="{E48260DE-0367-455E-A135-C9E54FB29808}" type="slidenum">
              <a:t>13</a:t>
            </a:fld>
            <a:endParaRPr lang="en-US"/>
          </a:p>
        </p:txBody>
      </p:sp>
    </p:spTree>
    <p:extLst>
      <p:ext uri="{BB962C8B-B14F-4D97-AF65-F5344CB8AC3E}">
        <p14:creationId xmlns:p14="http://schemas.microsoft.com/office/powerpoint/2010/main" val="311835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7B1EE1-1AEA-4440-87BE-DE72A3438CA4}"/>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22CB1321-3DF3-E143-937C-0347917AE3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1EF6746-B3F1-7E39-8021-8AA1C9DCC00F}"/>
              </a:ext>
            </a:extLst>
          </p:cNvPr>
          <p:cNvSpPr>
            <a:spLocks noGrp="1"/>
          </p:cNvSpPr>
          <p:nvPr>
            <p:ph type="dt" sz="half" idx="10"/>
          </p:nvPr>
        </p:nvSpPr>
        <p:spPr/>
        <p:txBody>
          <a:bodyPr/>
          <a:lstStyle>
            <a:lvl1pPr>
              <a:defRPr/>
            </a:lvl1pPr>
          </a:lstStyle>
          <a:p>
            <a:pPr>
              <a:defRPr/>
            </a:pPr>
            <a:fld id="{06B1F0B7-44B5-4D2F-9125-67446863D060}" type="datetimeFigureOut">
              <a:rPr lang="it-IT"/>
              <a:pPr>
                <a:defRPr/>
              </a:pPr>
              <a:t>21/02/2026</a:t>
            </a:fld>
            <a:endParaRPr lang="it-IT"/>
          </a:p>
        </p:txBody>
      </p:sp>
      <p:sp>
        <p:nvSpPr>
          <p:cNvPr id="5" name="Segnaposto piè di pagina 4">
            <a:extLst>
              <a:ext uri="{FF2B5EF4-FFF2-40B4-BE49-F238E27FC236}">
                <a16:creationId xmlns:a16="http://schemas.microsoft.com/office/drawing/2014/main" id="{5DAFDFCC-888F-0BD3-DD7E-849ECC6C5FA6}"/>
              </a:ext>
            </a:extLst>
          </p:cNvPr>
          <p:cNvSpPr>
            <a:spLocks noGrp="1"/>
          </p:cNvSpPr>
          <p:nvPr>
            <p:ph type="ftr" sz="quarter" idx="11"/>
          </p:nvPr>
        </p:nvSpPr>
        <p:spPr/>
        <p:txBody>
          <a:bodyPr/>
          <a:lstStyle>
            <a:lvl1pPr>
              <a:defRPr/>
            </a:lvl1pPr>
          </a:lstStyle>
          <a:p>
            <a:pPr>
              <a:defRPr/>
            </a:pPr>
            <a:endParaRPr lang="it-IT"/>
          </a:p>
        </p:txBody>
      </p:sp>
      <p:sp>
        <p:nvSpPr>
          <p:cNvPr id="6" name="Segnaposto numero diapositiva 5">
            <a:extLst>
              <a:ext uri="{FF2B5EF4-FFF2-40B4-BE49-F238E27FC236}">
                <a16:creationId xmlns:a16="http://schemas.microsoft.com/office/drawing/2014/main" id="{87075802-E23A-7FB8-3B21-2CF5A495FDB4}"/>
              </a:ext>
            </a:extLst>
          </p:cNvPr>
          <p:cNvSpPr>
            <a:spLocks noGrp="1"/>
          </p:cNvSpPr>
          <p:nvPr>
            <p:ph type="sldNum" sz="quarter" idx="12"/>
          </p:nvPr>
        </p:nvSpPr>
        <p:spPr/>
        <p:txBody>
          <a:bodyPr/>
          <a:lstStyle>
            <a:lvl1pPr>
              <a:defRPr/>
            </a:lvl1pPr>
          </a:lstStyle>
          <a:p>
            <a:fld id="{A64857DD-B3AB-4A54-BFCC-7DF8343CDADA}" type="slidenum">
              <a:rPr lang="it-IT" altLang="en-US"/>
              <a:pPr/>
              <a:t>‹#›</a:t>
            </a:fld>
            <a:endParaRPr lang="it-IT" altLang="en-US"/>
          </a:p>
        </p:txBody>
      </p:sp>
    </p:spTree>
    <p:extLst>
      <p:ext uri="{BB962C8B-B14F-4D97-AF65-F5344CB8AC3E}">
        <p14:creationId xmlns:p14="http://schemas.microsoft.com/office/powerpoint/2010/main" val="21488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3E8F245-97CF-4E47-9193-524967E9122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6BB4E63-6C0C-C548-A31F-DBD5C2793AC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59CD8CA-6796-24C4-3903-E677D495FE9E}"/>
              </a:ext>
            </a:extLst>
          </p:cNvPr>
          <p:cNvSpPr>
            <a:spLocks noGrp="1"/>
          </p:cNvSpPr>
          <p:nvPr>
            <p:ph type="dt" sz="half" idx="10"/>
          </p:nvPr>
        </p:nvSpPr>
        <p:spPr/>
        <p:txBody>
          <a:bodyPr/>
          <a:lstStyle>
            <a:lvl1pPr>
              <a:defRPr/>
            </a:lvl1pPr>
          </a:lstStyle>
          <a:p>
            <a:pPr>
              <a:defRPr/>
            </a:pPr>
            <a:fld id="{8E017306-0DE4-4D9C-87BB-B683AE2394A6}" type="datetimeFigureOut">
              <a:rPr lang="it-IT"/>
              <a:pPr>
                <a:defRPr/>
              </a:pPr>
              <a:t>21/02/2026</a:t>
            </a:fld>
            <a:endParaRPr lang="it-IT"/>
          </a:p>
        </p:txBody>
      </p:sp>
      <p:sp>
        <p:nvSpPr>
          <p:cNvPr id="5" name="Segnaposto piè di pagina 4">
            <a:extLst>
              <a:ext uri="{FF2B5EF4-FFF2-40B4-BE49-F238E27FC236}">
                <a16:creationId xmlns:a16="http://schemas.microsoft.com/office/drawing/2014/main" id="{0CD46AC5-9C11-0033-7178-B841204C57FD}"/>
              </a:ext>
            </a:extLst>
          </p:cNvPr>
          <p:cNvSpPr>
            <a:spLocks noGrp="1"/>
          </p:cNvSpPr>
          <p:nvPr>
            <p:ph type="ftr" sz="quarter" idx="11"/>
          </p:nvPr>
        </p:nvSpPr>
        <p:spPr/>
        <p:txBody>
          <a:bodyPr/>
          <a:lstStyle>
            <a:lvl1pPr>
              <a:defRPr/>
            </a:lvl1pPr>
          </a:lstStyle>
          <a:p>
            <a:pPr>
              <a:defRPr/>
            </a:pPr>
            <a:endParaRPr lang="it-IT"/>
          </a:p>
        </p:txBody>
      </p:sp>
      <p:sp>
        <p:nvSpPr>
          <p:cNvPr id="6" name="Segnaposto numero diapositiva 5">
            <a:extLst>
              <a:ext uri="{FF2B5EF4-FFF2-40B4-BE49-F238E27FC236}">
                <a16:creationId xmlns:a16="http://schemas.microsoft.com/office/drawing/2014/main" id="{D4D430D9-0BB3-BE88-6DE1-0A02D888AB89}"/>
              </a:ext>
            </a:extLst>
          </p:cNvPr>
          <p:cNvSpPr>
            <a:spLocks noGrp="1"/>
          </p:cNvSpPr>
          <p:nvPr>
            <p:ph type="sldNum" sz="quarter" idx="12"/>
          </p:nvPr>
        </p:nvSpPr>
        <p:spPr/>
        <p:txBody>
          <a:bodyPr/>
          <a:lstStyle>
            <a:lvl1pPr>
              <a:defRPr/>
            </a:lvl1pPr>
          </a:lstStyle>
          <a:p>
            <a:fld id="{5570B4BC-6684-4296-A761-E19DA8560E31}" type="slidenum">
              <a:rPr lang="it-IT" altLang="en-US"/>
              <a:pPr/>
              <a:t>‹#›</a:t>
            </a:fld>
            <a:endParaRPr lang="it-IT" altLang="en-US"/>
          </a:p>
        </p:txBody>
      </p:sp>
    </p:spTree>
    <p:extLst>
      <p:ext uri="{BB962C8B-B14F-4D97-AF65-F5344CB8AC3E}">
        <p14:creationId xmlns:p14="http://schemas.microsoft.com/office/powerpoint/2010/main" val="3454142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EBF54F-A335-FB4A-B02A-28BE2134793F}"/>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01111F4-75D0-7D4C-B110-1C6F960E72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883A8E00-14D7-DDC0-AD74-C52AFB32E6CC}"/>
              </a:ext>
            </a:extLst>
          </p:cNvPr>
          <p:cNvSpPr>
            <a:spLocks noGrp="1"/>
          </p:cNvSpPr>
          <p:nvPr>
            <p:ph type="dt" sz="half" idx="10"/>
          </p:nvPr>
        </p:nvSpPr>
        <p:spPr/>
        <p:txBody>
          <a:bodyPr/>
          <a:lstStyle>
            <a:lvl1pPr>
              <a:defRPr/>
            </a:lvl1pPr>
          </a:lstStyle>
          <a:p>
            <a:pPr>
              <a:defRPr/>
            </a:pPr>
            <a:fld id="{C71CAF91-86DF-40A9-AD57-A83DC1A11B50}" type="datetimeFigureOut">
              <a:rPr lang="it-IT"/>
              <a:pPr>
                <a:defRPr/>
              </a:pPr>
              <a:t>21/02/2026</a:t>
            </a:fld>
            <a:endParaRPr lang="it-IT"/>
          </a:p>
        </p:txBody>
      </p:sp>
      <p:sp>
        <p:nvSpPr>
          <p:cNvPr id="5" name="Segnaposto piè di pagina 4">
            <a:extLst>
              <a:ext uri="{FF2B5EF4-FFF2-40B4-BE49-F238E27FC236}">
                <a16:creationId xmlns:a16="http://schemas.microsoft.com/office/drawing/2014/main" id="{0C1742C9-BB9F-0CC8-6133-BD7EF406CC09}"/>
              </a:ext>
            </a:extLst>
          </p:cNvPr>
          <p:cNvSpPr>
            <a:spLocks noGrp="1"/>
          </p:cNvSpPr>
          <p:nvPr>
            <p:ph type="ftr" sz="quarter" idx="11"/>
          </p:nvPr>
        </p:nvSpPr>
        <p:spPr/>
        <p:txBody>
          <a:bodyPr/>
          <a:lstStyle>
            <a:lvl1pPr>
              <a:defRPr/>
            </a:lvl1pPr>
          </a:lstStyle>
          <a:p>
            <a:pPr>
              <a:defRPr/>
            </a:pPr>
            <a:endParaRPr lang="it-IT"/>
          </a:p>
        </p:txBody>
      </p:sp>
      <p:sp>
        <p:nvSpPr>
          <p:cNvPr id="6" name="Segnaposto numero diapositiva 5">
            <a:extLst>
              <a:ext uri="{FF2B5EF4-FFF2-40B4-BE49-F238E27FC236}">
                <a16:creationId xmlns:a16="http://schemas.microsoft.com/office/drawing/2014/main" id="{DB46539C-4039-B650-068B-68C31AC214D9}"/>
              </a:ext>
            </a:extLst>
          </p:cNvPr>
          <p:cNvSpPr>
            <a:spLocks noGrp="1"/>
          </p:cNvSpPr>
          <p:nvPr>
            <p:ph type="sldNum" sz="quarter" idx="12"/>
          </p:nvPr>
        </p:nvSpPr>
        <p:spPr/>
        <p:txBody>
          <a:bodyPr/>
          <a:lstStyle>
            <a:lvl1pPr>
              <a:defRPr/>
            </a:lvl1pPr>
          </a:lstStyle>
          <a:p>
            <a:fld id="{6EF9C684-5CB6-4E84-8CA6-1D592F496203}" type="slidenum">
              <a:rPr lang="it-IT" altLang="en-US"/>
              <a:pPr/>
              <a:t>‹#›</a:t>
            </a:fld>
            <a:endParaRPr lang="it-IT" altLang="en-US"/>
          </a:p>
        </p:txBody>
      </p:sp>
    </p:spTree>
    <p:extLst>
      <p:ext uri="{BB962C8B-B14F-4D97-AF65-F5344CB8AC3E}">
        <p14:creationId xmlns:p14="http://schemas.microsoft.com/office/powerpoint/2010/main" val="2675757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B302DD-2881-7F49-9CE2-7A2F6A70CA1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A1AFA74-D806-6F47-B5CE-EDCCBB26BC3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851525B6-47BC-CC42-A76B-B7484F9B8DC2}"/>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3">
            <a:extLst>
              <a:ext uri="{FF2B5EF4-FFF2-40B4-BE49-F238E27FC236}">
                <a16:creationId xmlns:a16="http://schemas.microsoft.com/office/drawing/2014/main" id="{F7377810-AB2E-880A-7C88-E751EEDF6483}"/>
              </a:ext>
            </a:extLst>
          </p:cNvPr>
          <p:cNvSpPr>
            <a:spLocks noGrp="1"/>
          </p:cNvSpPr>
          <p:nvPr>
            <p:ph type="dt" sz="half" idx="10"/>
          </p:nvPr>
        </p:nvSpPr>
        <p:spPr/>
        <p:txBody>
          <a:bodyPr/>
          <a:lstStyle>
            <a:lvl1pPr>
              <a:defRPr/>
            </a:lvl1pPr>
          </a:lstStyle>
          <a:p>
            <a:pPr>
              <a:defRPr/>
            </a:pPr>
            <a:fld id="{038D188E-967D-42A0-BE94-C0F3CC6DA39F}" type="datetimeFigureOut">
              <a:rPr lang="it-IT"/>
              <a:pPr>
                <a:defRPr/>
              </a:pPr>
              <a:t>21/02/2026</a:t>
            </a:fld>
            <a:endParaRPr lang="it-IT"/>
          </a:p>
        </p:txBody>
      </p:sp>
      <p:sp>
        <p:nvSpPr>
          <p:cNvPr id="6" name="Segnaposto piè di pagina 4">
            <a:extLst>
              <a:ext uri="{FF2B5EF4-FFF2-40B4-BE49-F238E27FC236}">
                <a16:creationId xmlns:a16="http://schemas.microsoft.com/office/drawing/2014/main" id="{D6D99688-0338-7A13-FF7B-B68C3664EC13}"/>
              </a:ext>
            </a:extLst>
          </p:cNvPr>
          <p:cNvSpPr>
            <a:spLocks noGrp="1"/>
          </p:cNvSpPr>
          <p:nvPr>
            <p:ph type="ftr" sz="quarter" idx="11"/>
          </p:nvPr>
        </p:nvSpPr>
        <p:spPr/>
        <p:txBody>
          <a:bodyPr/>
          <a:lstStyle>
            <a:lvl1pPr>
              <a:defRPr/>
            </a:lvl1pPr>
          </a:lstStyle>
          <a:p>
            <a:pPr>
              <a:defRPr/>
            </a:pPr>
            <a:endParaRPr lang="it-IT"/>
          </a:p>
        </p:txBody>
      </p:sp>
      <p:sp>
        <p:nvSpPr>
          <p:cNvPr id="7" name="Segnaposto numero diapositiva 5">
            <a:extLst>
              <a:ext uri="{FF2B5EF4-FFF2-40B4-BE49-F238E27FC236}">
                <a16:creationId xmlns:a16="http://schemas.microsoft.com/office/drawing/2014/main" id="{87256B42-C705-D61E-223A-6DA1EA78D7D3}"/>
              </a:ext>
            </a:extLst>
          </p:cNvPr>
          <p:cNvSpPr>
            <a:spLocks noGrp="1"/>
          </p:cNvSpPr>
          <p:nvPr>
            <p:ph type="sldNum" sz="quarter" idx="12"/>
          </p:nvPr>
        </p:nvSpPr>
        <p:spPr/>
        <p:txBody>
          <a:bodyPr/>
          <a:lstStyle>
            <a:lvl1pPr>
              <a:defRPr/>
            </a:lvl1pPr>
          </a:lstStyle>
          <a:p>
            <a:fld id="{D349D19C-F16D-453E-9150-2296C70E2462}" type="slidenum">
              <a:rPr lang="it-IT" altLang="en-US"/>
              <a:pPr/>
              <a:t>‹#›</a:t>
            </a:fld>
            <a:endParaRPr lang="it-IT" altLang="en-US"/>
          </a:p>
        </p:txBody>
      </p:sp>
    </p:spTree>
    <p:extLst>
      <p:ext uri="{BB962C8B-B14F-4D97-AF65-F5344CB8AC3E}">
        <p14:creationId xmlns:p14="http://schemas.microsoft.com/office/powerpoint/2010/main" val="2703179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354986-3F2B-434A-A9D8-C5C00E3AC06F}"/>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B580444-ABE1-8747-803F-145BE421F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BD5AF291-27FD-994F-922A-650E53B21273}"/>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556964B7-9FB1-794E-AD0F-260B8642F6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022E4FC-C755-9345-B524-38870D855403}"/>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3">
            <a:extLst>
              <a:ext uri="{FF2B5EF4-FFF2-40B4-BE49-F238E27FC236}">
                <a16:creationId xmlns:a16="http://schemas.microsoft.com/office/drawing/2014/main" id="{08B98498-776A-DD1E-F53F-1CFBFC73E7FA}"/>
              </a:ext>
            </a:extLst>
          </p:cNvPr>
          <p:cNvSpPr>
            <a:spLocks noGrp="1"/>
          </p:cNvSpPr>
          <p:nvPr>
            <p:ph type="dt" sz="half" idx="10"/>
          </p:nvPr>
        </p:nvSpPr>
        <p:spPr/>
        <p:txBody>
          <a:bodyPr/>
          <a:lstStyle>
            <a:lvl1pPr>
              <a:defRPr/>
            </a:lvl1pPr>
          </a:lstStyle>
          <a:p>
            <a:pPr>
              <a:defRPr/>
            </a:pPr>
            <a:fld id="{891C30A9-510A-48B6-97A1-75C84E76319D}" type="datetimeFigureOut">
              <a:rPr lang="it-IT"/>
              <a:pPr>
                <a:defRPr/>
              </a:pPr>
              <a:t>21/02/2026</a:t>
            </a:fld>
            <a:endParaRPr lang="it-IT"/>
          </a:p>
        </p:txBody>
      </p:sp>
      <p:sp>
        <p:nvSpPr>
          <p:cNvPr id="8" name="Segnaposto piè di pagina 4">
            <a:extLst>
              <a:ext uri="{FF2B5EF4-FFF2-40B4-BE49-F238E27FC236}">
                <a16:creationId xmlns:a16="http://schemas.microsoft.com/office/drawing/2014/main" id="{5AEBB7A1-089A-E9DD-C01E-6459B5736D3E}"/>
              </a:ext>
            </a:extLst>
          </p:cNvPr>
          <p:cNvSpPr>
            <a:spLocks noGrp="1"/>
          </p:cNvSpPr>
          <p:nvPr>
            <p:ph type="ftr" sz="quarter" idx="11"/>
          </p:nvPr>
        </p:nvSpPr>
        <p:spPr/>
        <p:txBody>
          <a:bodyPr/>
          <a:lstStyle>
            <a:lvl1pPr>
              <a:defRPr/>
            </a:lvl1pPr>
          </a:lstStyle>
          <a:p>
            <a:pPr>
              <a:defRPr/>
            </a:pPr>
            <a:endParaRPr lang="it-IT"/>
          </a:p>
        </p:txBody>
      </p:sp>
      <p:sp>
        <p:nvSpPr>
          <p:cNvPr id="9" name="Segnaposto numero diapositiva 5">
            <a:extLst>
              <a:ext uri="{FF2B5EF4-FFF2-40B4-BE49-F238E27FC236}">
                <a16:creationId xmlns:a16="http://schemas.microsoft.com/office/drawing/2014/main" id="{3A9B0856-F727-0109-C71F-A6558F487E4E}"/>
              </a:ext>
            </a:extLst>
          </p:cNvPr>
          <p:cNvSpPr>
            <a:spLocks noGrp="1"/>
          </p:cNvSpPr>
          <p:nvPr>
            <p:ph type="sldNum" sz="quarter" idx="12"/>
          </p:nvPr>
        </p:nvSpPr>
        <p:spPr/>
        <p:txBody>
          <a:bodyPr/>
          <a:lstStyle>
            <a:lvl1pPr>
              <a:defRPr/>
            </a:lvl1pPr>
          </a:lstStyle>
          <a:p>
            <a:fld id="{FF7EA17C-D336-43CC-AC8F-D077B0EDCC54}" type="slidenum">
              <a:rPr lang="it-IT" altLang="en-US"/>
              <a:pPr/>
              <a:t>‹#›</a:t>
            </a:fld>
            <a:endParaRPr lang="it-IT" altLang="en-US"/>
          </a:p>
        </p:txBody>
      </p:sp>
    </p:spTree>
    <p:extLst>
      <p:ext uri="{BB962C8B-B14F-4D97-AF65-F5344CB8AC3E}">
        <p14:creationId xmlns:p14="http://schemas.microsoft.com/office/powerpoint/2010/main" val="1211317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564C79-E57F-CC4D-B39E-0843C1C5D8A7}"/>
              </a:ext>
            </a:extLst>
          </p:cNvPr>
          <p:cNvSpPr>
            <a:spLocks noGrp="1"/>
          </p:cNvSpPr>
          <p:nvPr>
            <p:ph type="title"/>
          </p:nvPr>
        </p:nvSpPr>
        <p:spPr/>
        <p:txBody>
          <a:bodyPr/>
          <a:lstStyle/>
          <a:p>
            <a:r>
              <a:rPr lang="it-IT"/>
              <a:t>Fare clic per modificare lo stile del titolo dello schema</a:t>
            </a:r>
          </a:p>
        </p:txBody>
      </p:sp>
      <p:sp>
        <p:nvSpPr>
          <p:cNvPr id="3" name="Segnaposto data 3">
            <a:extLst>
              <a:ext uri="{FF2B5EF4-FFF2-40B4-BE49-F238E27FC236}">
                <a16:creationId xmlns:a16="http://schemas.microsoft.com/office/drawing/2014/main" id="{90F323C3-16C4-2ABF-5696-7AB3BD2E57E1}"/>
              </a:ext>
            </a:extLst>
          </p:cNvPr>
          <p:cNvSpPr>
            <a:spLocks noGrp="1"/>
          </p:cNvSpPr>
          <p:nvPr>
            <p:ph type="dt" sz="half" idx="10"/>
          </p:nvPr>
        </p:nvSpPr>
        <p:spPr/>
        <p:txBody>
          <a:bodyPr/>
          <a:lstStyle>
            <a:lvl1pPr>
              <a:defRPr/>
            </a:lvl1pPr>
          </a:lstStyle>
          <a:p>
            <a:pPr>
              <a:defRPr/>
            </a:pPr>
            <a:fld id="{2C677834-6D9D-4760-A842-9CB36641D0D4}" type="datetimeFigureOut">
              <a:rPr lang="it-IT"/>
              <a:pPr>
                <a:defRPr/>
              </a:pPr>
              <a:t>21/02/2026</a:t>
            </a:fld>
            <a:endParaRPr lang="it-IT"/>
          </a:p>
        </p:txBody>
      </p:sp>
      <p:sp>
        <p:nvSpPr>
          <p:cNvPr id="4" name="Segnaposto piè di pagina 4">
            <a:extLst>
              <a:ext uri="{FF2B5EF4-FFF2-40B4-BE49-F238E27FC236}">
                <a16:creationId xmlns:a16="http://schemas.microsoft.com/office/drawing/2014/main" id="{0CEBC6CA-740D-1639-6648-730C637A97A7}"/>
              </a:ext>
            </a:extLst>
          </p:cNvPr>
          <p:cNvSpPr>
            <a:spLocks noGrp="1"/>
          </p:cNvSpPr>
          <p:nvPr>
            <p:ph type="ftr" sz="quarter" idx="11"/>
          </p:nvPr>
        </p:nvSpPr>
        <p:spPr/>
        <p:txBody>
          <a:bodyPr/>
          <a:lstStyle>
            <a:lvl1pPr>
              <a:defRPr/>
            </a:lvl1pPr>
          </a:lstStyle>
          <a:p>
            <a:pPr>
              <a:defRPr/>
            </a:pPr>
            <a:endParaRPr lang="it-IT"/>
          </a:p>
        </p:txBody>
      </p:sp>
      <p:sp>
        <p:nvSpPr>
          <p:cNvPr id="5" name="Segnaposto numero diapositiva 5">
            <a:extLst>
              <a:ext uri="{FF2B5EF4-FFF2-40B4-BE49-F238E27FC236}">
                <a16:creationId xmlns:a16="http://schemas.microsoft.com/office/drawing/2014/main" id="{74D5EED4-E947-A991-0AB5-AC19641C4013}"/>
              </a:ext>
            </a:extLst>
          </p:cNvPr>
          <p:cNvSpPr>
            <a:spLocks noGrp="1"/>
          </p:cNvSpPr>
          <p:nvPr>
            <p:ph type="sldNum" sz="quarter" idx="12"/>
          </p:nvPr>
        </p:nvSpPr>
        <p:spPr/>
        <p:txBody>
          <a:bodyPr/>
          <a:lstStyle>
            <a:lvl1pPr>
              <a:defRPr/>
            </a:lvl1pPr>
          </a:lstStyle>
          <a:p>
            <a:fld id="{BF182779-D449-4889-9DD8-D1F76475946B}" type="slidenum">
              <a:rPr lang="it-IT" altLang="en-US"/>
              <a:pPr/>
              <a:t>‹#›</a:t>
            </a:fld>
            <a:endParaRPr lang="it-IT" altLang="en-US"/>
          </a:p>
        </p:txBody>
      </p:sp>
    </p:spTree>
    <p:extLst>
      <p:ext uri="{BB962C8B-B14F-4D97-AF65-F5344CB8AC3E}">
        <p14:creationId xmlns:p14="http://schemas.microsoft.com/office/powerpoint/2010/main" val="3933809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3">
            <a:extLst>
              <a:ext uri="{FF2B5EF4-FFF2-40B4-BE49-F238E27FC236}">
                <a16:creationId xmlns:a16="http://schemas.microsoft.com/office/drawing/2014/main" id="{52B3CFFE-EDC6-8AA0-11D7-015D35481C0E}"/>
              </a:ext>
            </a:extLst>
          </p:cNvPr>
          <p:cNvSpPr>
            <a:spLocks noGrp="1"/>
          </p:cNvSpPr>
          <p:nvPr>
            <p:ph type="dt" sz="half" idx="10"/>
          </p:nvPr>
        </p:nvSpPr>
        <p:spPr/>
        <p:txBody>
          <a:bodyPr/>
          <a:lstStyle>
            <a:lvl1pPr>
              <a:defRPr/>
            </a:lvl1pPr>
          </a:lstStyle>
          <a:p>
            <a:pPr>
              <a:defRPr/>
            </a:pPr>
            <a:fld id="{4EA03497-628E-4DEC-907C-EB9C22BAE0EA}" type="datetimeFigureOut">
              <a:rPr lang="it-IT"/>
              <a:pPr>
                <a:defRPr/>
              </a:pPr>
              <a:t>21/02/2026</a:t>
            </a:fld>
            <a:endParaRPr lang="it-IT"/>
          </a:p>
        </p:txBody>
      </p:sp>
      <p:sp>
        <p:nvSpPr>
          <p:cNvPr id="3" name="Segnaposto piè di pagina 4">
            <a:extLst>
              <a:ext uri="{FF2B5EF4-FFF2-40B4-BE49-F238E27FC236}">
                <a16:creationId xmlns:a16="http://schemas.microsoft.com/office/drawing/2014/main" id="{83898CC4-9C66-33FB-2A84-76CA91CC402A}"/>
              </a:ext>
            </a:extLst>
          </p:cNvPr>
          <p:cNvSpPr>
            <a:spLocks noGrp="1"/>
          </p:cNvSpPr>
          <p:nvPr>
            <p:ph type="ftr" sz="quarter" idx="11"/>
          </p:nvPr>
        </p:nvSpPr>
        <p:spPr/>
        <p:txBody>
          <a:bodyPr/>
          <a:lstStyle>
            <a:lvl1pPr>
              <a:defRPr/>
            </a:lvl1pPr>
          </a:lstStyle>
          <a:p>
            <a:pPr>
              <a:defRPr/>
            </a:pPr>
            <a:endParaRPr lang="it-IT"/>
          </a:p>
        </p:txBody>
      </p:sp>
      <p:sp>
        <p:nvSpPr>
          <p:cNvPr id="4" name="Segnaposto numero diapositiva 5">
            <a:extLst>
              <a:ext uri="{FF2B5EF4-FFF2-40B4-BE49-F238E27FC236}">
                <a16:creationId xmlns:a16="http://schemas.microsoft.com/office/drawing/2014/main" id="{478CE4C9-B18F-8EA7-196F-8E7D48DEE643}"/>
              </a:ext>
            </a:extLst>
          </p:cNvPr>
          <p:cNvSpPr>
            <a:spLocks noGrp="1"/>
          </p:cNvSpPr>
          <p:nvPr>
            <p:ph type="sldNum" sz="quarter" idx="12"/>
          </p:nvPr>
        </p:nvSpPr>
        <p:spPr/>
        <p:txBody>
          <a:bodyPr/>
          <a:lstStyle>
            <a:lvl1pPr>
              <a:defRPr/>
            </a:lvl1pPr>
          </a:lstStyle>
          <a:p>
            <a:fld id="{8E8C38AD-6F09-49F1-828C-7C1969E7804D}" type="slidenum">
              <a:rPr lang="it-IT" altLang="en-US"/>
              <a:pPr/>
              <a:t>‹#›</a:t>
            </a:fld>
            <a:endParaRPr lang="it-IT" altLang="en-US"/>
          </a:p>
        </p:txBody>
      </p:sp>
    </p:spTree>
    <p:extLst>
      <p:ext uri="{BB962C8B-B14F-4D97-AF65-F5344CB8AC3E}">
        <p14:creationId xmlns:p14="http://schemas.microsoft.com/office/powerpoint/2010/main" val="2532031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686AD7-0F14-5C48-81B2-5CEC7B44B1A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F50A247-D3CB-DC44-87BE-92587B73BB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F79A30FA-BDEE-4149-823E-F4C81CAB2C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3">
            <a:extLst>
              <a:ext uri="{FF2B5EF4-FFF2-40B4-BE49-F238E27FC236}">
                <a16:creationId xmlns:a16="http://schemas.microsoft.com/office/drawing/2014/main" id="{0D2978C9-0C1D-B698-3096-2645196AD0D8}"/>
              </a:ext>
            </a:extLst>
          </p:cNvPr>
          <p:cNvSpPr>
            <a:spLocks noGrp="1"/>
          </p:cNvSpPr>
          <p:nvPr>
            <p:ph type="dt" sz="half" idx="10"/>
          </p:nvPr>
        </p:nvSpPr>
        <p:spPr/>
        <p:txBody>
          <a:bodyPr/>
          <a:lstStyle>
            <a:lvl1pPr>
              <a:defRPr/>
            </a:lvl1pPr>
          </a:lstStyle>
          <a:p>
            <a:pPr>
              <a:defRPr/>
            </a:pPr>
            <a:fld id="{57BBFBBC-5EAE-498B-AFFC-15A340D510AE}" type="datetimeFigureOut">
              <a:rPr lang="it-IT"/>
              <a:pPr>
                <a:defRPr/>
              </a:pPr>
              <a:t>21/02/2026</a:t>
            </a:fld>
            <a:endParaRPr lang="it-IT"/>
          </a:p>
        </p:txBody>
      </p:sp>
      <p:sp>
        <p:nvSpPr>
          <p:cNvPr id="6" name="Segnaposto piè di pagina 4">
            <a:extLst>
              <a:ext uri="{FF2B5EF4-FFF2-40B4-BE49-F238E27FC236}">
                <a16:creationId xmlns:a16="http://schemas.microsoft.com/office/drawing/2014/main" id="{65E4ED55-74EA-68E0-763A-7804CA15E3F2}"/>
              </a:ext>
            </a:extLst>
          </p:cNvPr>
          <p:cNvSpPr>
            <a:spLocks noGrp="1"/>
          </p:cNvSpPr>
          <p:nvPr>
            <p:ph type="ftr" sz="quarter" idx="11"/>
          </p:nvPr>
        </p:nvSpPr>
        <p:spPr/>
        <p:txBody>
          <a:bodyPr/>
          <a:lstStyle>
            <a:lvl1pPr>
              <a:defRPr/>
            </a:lvl1pPr>
          </a:lstStyle>
          <a:p>
            <a:pPr>
              <a:defRPr/>
            </a:pPr>
            <a:endParaRPr lang="it-IT"/>
          </a:p>
        </p:txBody>
      </p:sp>
      <p:sp>
        <p:nvSpPr>
          <p:cNvPr id="7" name="Segnaposto numero diapositiva 5">
            <a:extLst>
              <a:ext uri="{FF2B5EF4-FFF2-40B4-BE49-F238E27FC236}">
                <a16:creationId xmlns:a16="http://schemas.microsoft.com/office/drawing/2014/main" id="{D4DE382C-038A-940A-9433-6DEDA1F4F458}"/>
              </a:ext>
            </a:extLst>
          </p:cNvPr>
          <p:cNvSpPr>
            <a:spLocks noGrp="1"/>
          </p:cNvSpPr>
          <p:nvPr>
            <p:ph type="sldNum" sz="quarter" idx="12"/>
          </p:nvPr>
        </p:nvSpPr>
        <p:spPr/>
        <p:txBody>
          <a:bodyPr/>
          <a:lstStyle>
            <a:lvl1pPr>
              <a:defRPr/>
            </a:lvl1pPr>
          </a:lstStyle>
          <a:p>
            <a:fld id="{58110513-C08B-4FBE-87B4-B78D5A4F1FB2}" type="slidenum">
              <a:rPr lang="it-IT" altLang="en-US"/>
              <a:pPr/>
              <a:t>‹#›</a:t>
            </a:fld>
            <a:endParaRPr lang="it-IT" altLang="en-US"/>
          </a:p>
        </p:txBody>
      </p:sp>
    </p:spTree>
    <p:extLst>
      <p:ext uri="{BB962C8B-B14F-4D97-AF65-F5344CB8AC3E}">
        <p14:creationId xmlns:p14="http://schemas.microsoft.com/office/powerpoint/2010/main" val="3359218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8F25F2-4362-1447-AE75-F04DB2A8681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C8D14C07-7FE8-664E-9F92-E58F1A4A7A83}"/>
              </a:ext>
            </a:extLst>
          </p:cNvPr>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a:extLst>
              <a:ext uri="{FF2B5EF4-FFF2-40B4-BE49-F238E27FC236}">
                <a16:creationId xmlns:a16="http://schemas.microsoft.com/office/drawing/2014/main" id="{EB62212C-4AA9-A14C-B79A-DAA1D68D4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3">
            <a:extLst>
              <a:ext uri="{FF2B5EF4-FFF2-40B4-BE49-F238E27FC236}">
                <a16:creationId xmlns:a16="http://schemas.microsoft.com/office/drawing/2014/main" id="{7640C4A0-4D96-6BFA-92D1-40FAA09D197B}"/>
              </a:ext>
            </a:extLst>
          </p:cNvPr>
          <p:cNvSpPr>
            <a:spLocks noGrp="1"/>
          </p:cNvSpPr>
          <p:nvPr>
            <p:ph type="dt" sz="half" idx="10"/>
          </p:nvPr>
        </p:nvSpPr>
        <p:spPr/>
        <p:txBody>
          <a:bodyPr/>
          <a:lstStyle>
            <a:lvl1pPr>
              <a:defRPr/>
            </a:lvl1pPr>
          </a:lstStyle>
          <a:p>
            <a:pPr>
              <a:defRPr/>
            </a:pPr>
            <a:fld id="{9FDCB825-D441-410C-A2FA-61BE04EEB233}" type="datetimeFigureOut">
              <a:rPr lang="it-IT"/>
              <a:pPr>
                <a:defRPr/>
              </a:pPr>
              <a:t>21/02/2026</a:t>
            </a:fld>
            <a:endParaRPr lang="it-IT"/>
          </a:p>
        </p:txBody>
      </p:sp>
      <p:sp>
        <p:nvSpPr>
          <p:cNvPr id="6" name="Segnaposto piè di pagina 4">
            <a:extLst>
              <a:ext uri="{FF2B5EF4-FFF2-40B4-BE49-F238E27FC236}">
                <a16:creationId xmlns:a16="http://schemas.microsoft.com/office/drawing/2014/main" id="{C18C9E55-A88A-5F1A-032B-1FAD739BFE75}"/>
              </a:ext>
            </a:extLst>
          </p:cNvPr>
          <p:cNvSpPr>
            <a:spLocks noGrp="1"/>
          </p:cNvSpPr>
          <p:nvPr>
            <p:ph type="ftr" sz="quarter" idx="11"/>
          </p:nvPr>
        </p:nvSpPr>
        <p:spPr/>
        <p:txBody>
          <a:bodyPr/>
          <a:lstStyle>
            <a:lvl1pPr>
              <a:defRPr/>
            </a:lvl1pPr>
          </a:lstStyle>
          <a:p>
            <a:pPr>
              <a:defRPr/>
            </a:pPr>
            <a:endParaRPr lang="it-IT"/>
          </a:p>
        </p:txBody>
      </p:sp>
      <p:sp>
        <p:nvSpPr>
          <p:cNvPr id="7" name="Segnaposto numero diapositiva 5">
            <a:extLst>
              <a:ext uri="{FF2B5EF4-FFF2-40B4-BE49-F238E27FC236}">
                <a16:creationId xmlns:a16="http://schemas.microsoft.com/office/drawing/2014/main" id="{F15BD304-D771-36A3-E870-2AB6E22AF2D7}"/>
              </a:ext>
            </a:extLst>
          </p:cNvPr>
          <p:cNvSpPr>
            <a:spLocks noGrp="1"/>
          </p:cNvSpPr>
          <p:nvPr>
            <p:ph type="sldNum" sz="quarter" idx="12"/>
          </p:nvPr>
        </p:nvSpPr>
        <p:spPr/>
        <p:txBody>
          <a:bodyPr/>
          <a:lstStyle>
            <a:lvl1pPr>
              <a:defRPr/>
            </a:lvl1pPr>
          </a:lstStyle>
          <a:p>
            <a:fld id="{19282248-66C1-48E5-A2F2-C27A4368A92E}" type="slidenum">
              <a:rPr lang="it-IT" altLang="en-US"/>
              <a:pPr/>
              <a:t>‹#›</a:t>
            </a:fld>
            <a:endParaRPr lang="it-IT" altLang="en-US"/>
          </a:p>
        </p:txBody>
      </p:sp>
    </p:spTree>
    <p:extLst>
      <p:ext uri="{BB962C8B-B14F-4D97-AF65-F5344CB8AC3E}">
        <p14:creationId xmlns:p14="http://schemas.microsoft.com/office/powerpoint/2010/main" val="843987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BFDCAB-845C-DC4D-990B-862E310CE78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7394BF1-4593-8340-B182-73F3B6B91D9A}"/>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945BEED-A012-C33C-B6D1-B5ABD15138EE}"/>
              </a:ext>
            </a:extLst>
          </p:cNvPr>
          <p:cNvSpPr>
            <a:spLocks noGrp="1"/>
          </p:cNvSpPr>
          <p:nvPr>
            <p:ph type="dt" sz="half" idx="10"/>
          </p:nvPr>
        </p:nvSpPr>
        <p:spPr/>
        <p:txBody>
          <a:bodyPr/>
          <a:lstStyle>
            <a:lvl1pPr>
              <a:defRPr/>
            </a:lvl1pPr>
          </a:lstStyle>
          <a:p>
            <a:pPr>
              <a:defRPr/>
            </a:pPr>
            <a:fld id="{2E300E2C-FD95-4F02-B2DF-42B1C35B50DC}" type="datetimeFigureOut">
              <a:rPr lang="it-IT"/>
              <a:pPr>
                <a:defRPr/>
              </a:pPr>
              <a:t>21/02/2026</a:t>
            </a:fld>
            <a:endParaRPr lang="it-IT"/>
          </a:p>
        </p:txBody>
      </p:sp>
      <p:sp>
        <p:nvSpPr>
          <p:cNvPr id="5" name="Segnaposto piè di pagina 4">
            <a:extLst>
              <a:ext uri="{FF2B5EF4-FFF2-40B4-BE49-F238E27FC236}">
                <a16:creationId xmlns:a16="http://schemas.microsoft.com/office/drawing/2014/main" id="{BE167CD9-6232-DDE0-F1A1-8E5382BAF129}"/>
              </a:ext>
            </a:extLst>
          </p:cNvPr>
          <p:cNvSpPr>
            <a:spLocks noGrp="1"/>
          </p:cNvSpPr>
          <p:nvPr>
            <p:ph type="ftr" sz="quarter" idx="11"/>
          </p:nvPr>
        </p:nvSpPr>
        <p:spPr/>
        <p:txBody>
          <a:bodyPr/>
          <a:lstStyle>
            <a:lvl1pPr>
              <a:defRPr/>
            </a:lvl1pPr>
          </a:lstStyle>
          <a:p>
            <a:pPr>
              <a:defRPr/>
            </a:pPr>
            <a:endParaRPr lang="it-IT"/>
          </a:p>
        </p:txBody>
      </p:sp>
      <p:sp>
        <p:nvSpPr>
          <p:cNvPr id="6" name="Segnaposto numero diapositiva 5">
            <a:extLst>
              <a:ext uri="{FF2B5EF4-FFF2-40B4-BE49-F238E27FC236}">
                <a16:creationId xmlns:a16="http://schemas.microsoft.com/office/drawing/2014/main" id="{4F7D4A65-999A-1327-EF39-FC7081D4C0BE}"/>
              </a:ext>
            </a:extLst>
          </p:cNvPr>
          <p:cNvSpPr>
            <a:spLocks noGrp="1"/>
          </p:cNvSpPr>
          <p:nvPr>
            <p:ph type="sldNum" sz="quarter" idx="12"/>
          </p:nvPr>
        </p:nvSpPr>
        <p:spPr/>
        <p:txBody>
          <a:bodyPr/>
          <a:lstStyle>
            <a:lvl1pPr>
              <a:defRPr/>
            </a:lvl1pPr>
          </a:lstStyle>
          <a:p>
            <a:fld id="{7E3F8B7E-2E80-48B4-A620-CB896148D02C}" type="slidenum">
              <a:rPr lang="it-IT" altLang="en-US"/>
              <a:pPr/>
              <a:t>‹#›</a:t>
            </a:fld>
            <a:endParaRPr lang="it-IT" altLang="en-US"/>
          </a:p>
        </p:txBody>
      </p:sp>
    </p:spTree>
    <p:extLst>
      <p:ext uri="{BB962C8B-B14F-4D97-AF65-F5344CB8AC3E}">
        <p14:creationId xmlns:p14="http://schemas.microsoft.com/office/powerpoint/2010/main" val="4062050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A49C38E-A44E-3A40-ADB2-EFDB7FF2DE2A}"/>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0F9522F-3348-8641-9915-5ED8F2062B8B}"/>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2128BAE-41CF-1660-F44B-EF49D27EC210}"/>
              </a:ext>
            </a:extLst>
          </p:cNvPr>
          <p:cNvSpPr>
            <a:spLocks noGrp="1"/>
          </p:cNvSpPr>
          <p:nvPr>
            <p:ph type="dt" sz="half" idx="10"/>
          </p:nvPr>
        </p:nvSpPr>
        <p:spPr/>
        <p:txBody>
          <a:bodyPr/>
          <a:lstStyle>
            <a:lvl1pPr>
              <a:defRPr/>
            </a:lvl1pPr>
          </a:lstStyle>
          <a:p>
            <a:pPr>
              <a:defRPr/>
            </a:pPr>
            <a:fld id="{6411420D-2EA8-47BA-9994-53FF36333369}" type="datetimeFigureOut">
              <a:rPr lang="it-IT"/>
              <a:pPr>
                <a:defRPr/>
              </a:pPr>
              <a:t>21/02/2026</a:t>
            </a:fld>
            <a:endParaRPr lang="it-IT"/>
          </a:p>
        </p:txBody>
      </p:sp>
      <p:sp>
        <p:nvSpPr>
          <p:cNvPr id="5" name="Segnaposto piè di pagina 4">
            <a:extLst>
              <a:ext uri="{FF2B5EF4-FFF2-40B4-BE49-F238E27FC236}">
                <a16:creationId xmlns:a16="http://schemas.microsoft.com/office/drawing/2014/main" id="{47F46678-8339-190F-9718-715FE351EE24}"/>
              </a:ext>
            </a:extLst>
          </p:cNvPr>
          <p:cNvSpPr>
            <a:spLocks noGrp="1"/>
          </p:cNvSpPr>
          <p:nvPr>
            <p:ph type="ftr" sz="quarter" idx="11"/>
          </p:nvPr>
        </p:nvSpPr>
        <p:spPr/>
        <p:txBody>
          <a:bodyPr/>
          <a:lstStyle>
            <a:lvl1pPr>
              <a:defRPr/>
            </a:lvl1pPr>
          </a:lstStyle>
          <a:p>
            <a:pPr>
              <a:defRPr/>
            </a:pPr>
            <a:endParaRPr lang="it-IT"/>
          </a:p>
        </p:txBody>
      </p:sp>
      <p:sp>
        <p:nvSpPr>
          <p:cNvPr id="6" name="Segnaposto numero diapositiva 5">
            <a:extLst>
              <a:ext uri="{FF2B5EF4-FFF2-40B4-BE49-F238E27FC236}">
                <a16:creationId xmlns:a16="http://schemas.microsoft.com/office/drawing/2014/main" id="{2480433C-1C95-BDA8-45D6-5B982B94BEA2}"/>
              </a:ext>
            </a:extLst>
          </p:cNvPr>
          <p:cNvSpPr>
            <a:spLocks noGrp="1"/>
          </p:cNvSpPr>
          <p:nvPr>
            <p:ph type="sldNum" sz="quarter" idx="12"/>
          </p:nvPr>
        </p:nvSpPr>
        <p:spPr/>
        <p:txBody>
          <a:bodyPr/>
          <a:lstStyle>
            <a:lvl1pPr>
              <a:defRPr/>
            </a:lvl1pPr>
          </a:lstStyle>
          <a:p>
            <a:fld id="{E1D8FEF8-3864-4AF3-8D37-B20E2678992A}" type="slidenum">
              <a:rPr lang="it-IT" altLang="en-US"/>
              <a:pPr/>
              <a:t>‹#›</a:t>
            </a:fld>
            <a:endParaRPr lang="it-IT" altLang="en-US"/>
          </a:p>
        </p:txBody>
      </p:sp>
    </p:spTree>
    <p:extLst>
      <p:ext uri="{BB962C8B-B14F-4D97-AF65-F5344CB8AC3E}">
        <p14:creationId xmlns:p14="http://schemas.microsoft.com/office/powerpoint/2010/main" val="3728930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egnaposto titolo 1">
            <a:extLst>
              <a:ext uri="{FF2B5EF4-FFF2-40B4-BE49-F238E27FC236}">
                <a16:creationId xmlns:a16="http://schemas.microsoft.com/office/drawing/2014/main" id="{F35F9FCF-25C5-4A38-8577-EFFD86A3429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en-US"/>
              <a:t>Fare clic per modificare lo stile del titolo dello schema</a:t>
            </a:r>
          </a:p>
        </p:txBody>
      </p:sp>
      <p:sp>
        <p:nvSpPr>
          <p:cNvPr id="1027" name="Segnaposto testo 2">
            <a:extLst>
              <a:ext uri="{FF2B5EF4-FFF2-40B4-BE49-F238E27FC236}">
                <a16:creationId xmlns:a16="http://schemas.microsoft.com/office/drawing/2014/main" id="{75C122AA-06FF-79F8-995E-2141759035BC}"/>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en-US"/>
              <a:t>Fare clic per modificare gli stili del testo dello schema</a:t>
            </a:r>
          </a:p>
          <a:p>
            <a:pPr lvl="1"/>
            <a:r>
              <a:rPr lang="it-IT" altLang="en-US"/>
              <a:t>Secondo livello</a:t>
            </a:r>
          </a:p>
          <a:p>
            <a:pPr lvl="2"/>
            <a:r>
              <a:rPr lang="it-IT" altLang="en-US"/>
              <a:t>Terzo livello</a:t>
            </a:r>
          </a:p>
          <a:p>
            <a:pPr lvl="3"/>
            <a:r>
              <a:rPr lang="it-IT" altLang="en-US"/>
              <a:t>Quarto livello</a:t>
            </a:r>
          </a:p>
          <a:p>
            <a:pPr lvl="4"/>
            <a:r>
              <a:rPr lang="it-IT" altLang="en-US"/>
              <a:t>Quinto livello</a:t>
            </a:r>
          </a:p>
        </p:txBody>
      </p:sp>
      <p:sp>
        <p:nvSpPr>
          <p:cNvPr id="4" name="Segnaposto data 3">
            <a:extLst>
              <a:ext uri="{FF2B5EF4-FFF2-40B4-BE49-F238E27FC236}">
                <a16:creationId xmlns:a16="http://schemas.microsoft.com/office/drawing/2014/main" id="{E2B8EB6A-5FB5-4B40-9330-A64454E9F6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87C7E50D-D7E5-4CD0-A45E-0F675BA13CCD}" type="datetimeFigureOut">
              <a:rPr lang="it-IT"/>
              <a:pPr>
                <a:defRPr/>
              </a:pPr>
              <a:t>21/02/2026</a:t>
            </a:fld>
            <a:endParaRPr lang="it-IT"/>
          </a:p>
        </p:txBody>
      </p:sp>
      <p:sp>
        <p:nvSpPr>
          <p:cNvPr id="5" name="Segnaposto piè di pagina 4">
            <a:extLst>
              <a:ext uri="{FF2B5EF4-FFF2-40B4-BE49-F238E27FC236}">
                <a16:creationId xmlns:a16="http://schemas.microsoft.com/office/drawing/2014/main" id="{B5D41C78-E1D3-684E-B703-19EF9F03B2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it-IT"/>
          </a:p>
        </p:txBody>
      </p:sp>
      <p:sp>
        <p:nvSpPr>
          <p:cNvPr id="6" name="Segnaposto numero diapositiva 5">
            <a:extLst>
              <a:ext uri="{FF2B5EF4-FFF2-40B4-BE49-F238E27FC236}">
                <a16:creationId xmlns:a16="http://schemas.microsoft.com/office/drawing/2014/main" id="{AC0E8585-511D-E448-B551-CFBFD5F272D4}"/>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757B366A-1F6B-4F97-9EBA-52137785D478}" type="slidenum">
              <a:rPr lang="it-IT" altLang="en-US"/>
              <a:pPr/>
              <a:t>‹#›</a:t>
            </a:fld>
            <a:endParaRPr lang="it-IT"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2050" name="Immagine 2">
            <a:extLst>
              <a:ext uri="{FF2B5EF4-FFF2-40B4-BE49-F238E27FC236}">
                <a16:creationId xmlns:a16="http://schemas.microsoft.com/office/drawing/2014/main" id="{69213D12-B24B-57DB-C869-88BF3C67E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306" y="444432"/>
            <a:ext cx="4248150"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ttangolo 4">
            <a:extLst>
              <a:ext uri="{FF2B5EF4-FFF2-40B4-BE49-F238E27FC236}">
                <a16:creationId xmlns:a16="http://schemas.microsoft.com/office/drawing/2014/main" id="{3E2C7848-D0C0-9848-A987-4617A90B8B9B}"/>
              </a:ext>
            </a:extLst>
          </p:cNvPr>
          <p:cNvSpPr/>
          <p:nvPr/>
        </p:nvSpPr>
        <p:spPr>
          <a:xfrm>
            <a:off x="342757" y="2773167"/>
            <a:ext cx="5419725" cy="1323439"/>
          </a:xfrm>
          <a:prstGeom prst="rect">
            <a:avLst/>
          </a:prstGeom>
        </p:spPr>
        <p:txBody>
          <a:bodyPr lIns="91440" tIns="45720" rIns="91440" bIns="45720" anchor="t">
            <a:spAutoFit/>
          </a:bodyPr>
          <a:lstStyle/>
          <a:p>
            <a:pPr algn="ctr" eaLnBrk="1" fontAlgn="auto" hangingPunct="1">
              <a:spcBef>
                <a:spcPts val="0"/>
              </a:spcBef>
              <a:spcAft>
                <a:spcPts val="0"/>
              </a:spcAft>
              <a:defRPr/>
            </a:pPr>
            <a:r>
              <a:rPr lang="it-IT" sz="4000" b="1">
                <a:solidFill>
                  <a:schemeClr val="bg2">
                    <a:lumMod val="25000"/>
                  </a:schemeClr>
                </a:solidFill>
                <a:latin typeface="+mn-lt"/>
              </a:rPr>
              <a:t>How Transformers</a:t>
            </a:r>
            <a:endParaRPr lang="it-IT" sz="4000" b="1" dirty="0">
              <a:solidFill>
                <a:schemeClr val="bg2">
                  <a:lumMod val="25000"/>
                </a:schemeClr>
              </a:solidFill>
              <a:latin typeface="+mn-lt"/>
            </a:endParaRPr>
          </a:p>
          <a:p>
            <a:pPr algn="ctr">
              <a:spcBef>
                <a:spcPts val="0"/>
              </a:spcBef>
              <a:spcAft>
                <a:spcPts val="0"/>
              </a:spcAft>
              <a:defRPr/>
            </a:pPr>
            <a:r>
              <a:rPr lang="it-IT" sz="4000" b="1" dirty="0">
                <a:solidFill>
                  <a:schemeClr val="bg2">
                    <a:lumMod val="25000"/>
                  </a:schemeClr>
                </a:solidFill>
                <a:latin typeface="+mn-lt"/>
                <a:ea typeface="Calibri"/>
                <a:cs typeface="Calibri"/>
              </a:rPr>
              <a:t>LLM work</a:t>
            </a:r>
          </a:p>
        </p:txBody>
      </p:sp>
      <p:sp>
        <p:nvSpPr>
          <p:cNvPr id="2" name="Rettangolo 1">
            <a:extLst>
              <a:ext uri="{FF2B5EF4-FFF2-40B4-BE49-F238E27FC236}">
                <a16:creationId xmlns:a16="http://schemas.microsoft.com/office/drawing/2014/main" id="{A10E1290-DBDA-4C57-6AFF-B726B50ADFCB}"/>
              </a:ext>
            </a:extLst>
          </p:cNvPr>
          <p:cNvSpPr/>
          <p:nvPr/>
        </p:nvSpPr>
        <p:spPr>
          <a:xfrm>
            <a:off x="8630765" y="5802754"/>
            <a:ext cx="2033047" cy="923330"/>
          </a:xfrm>
          <a:prstGeom prst="rect">
            <a:avLst/>
          </a:prstGeom>
        </p:spPr>
        <p:txBody>
          <a:bodyPr wrap="square">
            <a:spAutoFit/>
          </a:bodyPr>
          <a:lstStyle/>
          <a:p>
            <a:pPr eaLnBrk="1" fontAlgn="auto" hangingPunct="1">
              <a:spcBef>
                <a:spcPts val="0"/>
              </a:spcBef>
              <a:spcAft>
                <a:spcPts val="0"/>
              </a:spcAft>
              <a:defRPr/>
            </a:pPr>
            <a:r>
              <a:rPr lang="it-IT" b="1" dirty="0">
                <a:solidFill>
                  <a:schemeClr val="bg2">
                    <a:lumMod val="25000"/>
                  </a:schemeClr>
                </a:solidFill>
                <a:latin typeface="+mn-lt"/>
              </a:rPr>
              <a:t>Ing. Fabio Antonini</a:t>
            </a:r>
          </a:p>
          <a:p>
            <a:pPr eaLnBrk="1" fontAlgn="auto" hangingPunct="1">
              <a:spcBef>
                <a:spcPts val="0"/>
              </a:spcBef>
              <a:spcAft>
                <a:spcPts val="0"/>
              </a:spcAft>
              <a:defRPr/>
            </a:pPr>
            <a:endParaRPr lang="it-IT" b="1" dirty="0">
              <a:solidFill>
                <a:schemeClr val="bg2">
                  <a:lumMod val="25000"/>
                </a:schemeClr>
              </a:solidFill>
              <a:latin typeface="+mn-lt"/>
            </a:endParaRPr>
          </a:p>
          <a:p>
            <a:pPr eaLnBrk="1" fontAlgn="auto" hangingPunct="1">
              <a:spcBef>
                <a:spcPts val="0"/>
              </a:spcBef>
              <a:spcAft>
                <a:spcPts val="0"/>
              </a:spcAft>
              <a:defRPr/>
            </a:pPr>
            <a:r>
              <a:rPr lang="it-IT" b="1" dirty="0">
                <a:solidFill>
                  <a:schemeClr val="bg2">
                    <a:lumMod val="25000"/>
                  </a:schemeClr>
                </a:solidFill>
                <a:latin typeface="+mn-lt"/>
              </a:rPr>
              <a:t>Software </a:t>
            </a:r>
            <a:r>
              <a:rPr lang="it-IT" b="1" dirty="0" err="1">
                <a:solidFill>
                  <a:schemeClr val="bg2">
                    <a:lumMod val="25000"/>
                  </a:schemeClr>
                </a:solidFill>
                <a:latin typeface="+mn-lt"/>
              </a:rPr>
              <a:t>Engineer</a:t>
            </a:r>
            <a:endParaRPr lang="it-IT" b="1" dirty="0">
              <a:solidFill>
                <a:schemeClr val="bg2">
                  <a:lumMod val="25000"/>
                </a:schemeClr>
              </a:solidFill>
              <a:latin typeface="+mn-lt"/>
            </a:endParaRPr>
          </a:p>
        </p:txBody>
      </p:sp>
      <p:sp>
        <p:nvSpPr>
          <p:cNvPr id="3" name="CasellaDiTesto 2">
            <a:extLst>
              <a:ext uri="{FF2B5EF4-FFF2-40B4-BE49-F238E27FC236}">
                <a16:creationId xmlns:a16="http://schemas.microsoft.com/office/drawing/2014/main" id="{B8ABD603-41E9-63A4-C1D3-722DC3FE7E8D}"/>
              </a:ext>
            </a:extLst>
          </p:cNvPr>
          <p:cNvSpPr txBox="1"/>
          <p:nvPr/>
        </p:nvSpPr>
        <p:spPr>
          <a:xfrm>
            <a:off x="223026" y="6133127"/>
            <a:ext cx="6299171" cy="461665"/>
          </a:xfrm>
          <a:prstGeom prst="rect">
            <a:avLst/>
          </a:prstGeom>
          <a:noFill/>
        </p:spPr>
        <p:txBody>
          <a:bodyPr wrap="square" rtlCol="0">
            <a:spAutoFit/>
          </a:bodyPr>
          <a:lstStyle/>
          <a:p>
            <a:pPr algn="l"/>
            <a:r>
              <a:rPr lang="en-GB" sz="2400" b="1" i="0" dirty="0">
                <a:effectLst/>
              </a:rPr>
              <a:t>Introduction to Machine Learning for Engineers</a:t>
            </a:r>
          </a:p>
        </p:txBody>
      </p:sp>
      <p:pic>
        <p:nvPicPr>
          <p:cNvPr id="6" name="Picture 5">
            <a:extLst>
              <a:ext uri="{FF2B5EF4-FFF2-40B4-BE49-F238E27FC236}">
                <a16:creationId xmlns:a16="http://schemas.microsoft.com/office/drawing/2014/main" id="{7B95D2A4-2A07-CAE9-D808-55EAC262AD98}"/>
              </a:ext>
            </a:extLst>
          </p:cNvPr>
          <p:cNvPicPr>
            <a:picLocks noChangeAspect="1"/>
          </p:cNvPicPr>
          <p:nvPr/>
        </p:nvPicPr>
        <p:blipFill>
          <a:blip r:embed="rId5"/>
          <a:stretch>
            <a:fillRect/>
          </a:stretch>
        </p:blipFill>
        <p:spPr>
          <a:xfrm>
            <a:off x="6529190" y="-1"/>
            <a:ext cx="5668029" cy="5668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Immagine 4">
            <a:extLst>
              <a:ext uri="{FF2B5EF4-FFF2-40B4-BE49-F238E27FC236}">
                <a16:creationId xmlns:a16="http://schemas.microsoft.com/office/drawing/2014/main" id="{8BFCBC35-2CD6-C0FB-2798-740D16D14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0ACC0B56-8E12-0AC7-1016-FE1CC344FC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ADE6D2E4-3F9E-FC4E-A7AE-0830B603B4E1}"/>
              </a:ext>
            </a:extLst>
          </p:cNvPr>
          <p:cNvSpPr/>
          <p:nvPr/>
        </p:nvSpPr>
        <p:spPr>
          <a:xfrm>
            <a:off x="247650" y="147638"/>
            <a:ext cx="9574501" cy="707886"/>
          </a:xfrm>
          <a:prstGeom prst="rect">
            <a:avLst/>
          </a:prstGeom>
        </p:spPr>
        <p:txBody>
          <a:bodyPr wrap="square" lIns="91440" tIns="45720" rIns="91440" bIns="45720" anchor="t">
            <a:spAutoFit/>
          </a:bodyPr>
          <a:lstStyle/>
          <a:p>
            <a:pPr eaLnBrk="1" fontAlgn="auto" hangingPunct="1">
              <a:spcBef>
                <a:spcPts val="0"/>
              </a:spcBef>
              <a:spcAft>
                <a:spcPts val="0"/>
              </a:spcAft>
              <a:defRPr/>
            </a:pPr>
            <a:r>
              <a:rPr lang="it-IT" sz="4000" b="1" dirty="0">
                <a:solidFill>
                  <a:schemeClr val="bg2">
                    <a:lumMod val="25000"/>
                  </a:schemeClr>
                </a:solidFill>
                <a:latin typeface="+mn-lt"/>
              </a:rPr>
              <a:t>Transformer Architecture</a:t>
            </a:r>
            <a:endParaRPr lang="it-IT" sz="4000" b="1" dirty="0">
              <a:solidFill>
                <a:schemeClr val="bg2">
                  <a:lumMod val="25000"/>
                </a:schemeClr>
              </a:solidFill>
              <a:latin typeface="+mn-lt"/>
              <a:ea typeface="Calibri"/>
              <a:cs typeface="Calibri"/>
            </a:endParaRPr>
          </a:p>
        </p:txBody>
      </p:sp>
      <p:pic>
        <p:nvPicPr>
          <p:cNvPr id="2" name="Picture 1" descr="A diagram of a computer model&#10;&#10;AI-generated content may be incorrect.">
            <a:extLst>
              <a:ext uri="{FF2B5EF4-FFF2-40B4-BE49-F238E27FC236}">
                <a16:creationId xmlns:a16="http://schemas.microsoft.com/office/drawing/2014/main" id="{D9E048D9-4744-6EFE-388A-5B475E6ACA44}"/>
              </a:ext>
            </a:extLst>
          </p:cNvPr>
          <p:cNvPicPr>
            <a:picLocks noChangeAspect="1"/>
          </p:cNvPicPr>
          <p:nvPr/>
        </p:nvPicPr>
        <p:blipFill>
          <a:blip r:embed="rId5"/>
          <a:stretch>
            <a:fillRect/>
          </a:stretch>
        </p:blipFill>
        <p:spPr>
          <a:xfrm>
            <a:off x="4341158" y="1370528"/>
            <a:ext cx="7855325" cy="3882434"/>
          </a:xfrm>
          <a:prstGeom prst="rect">
            <a:avLst/>
          </a:prstGeom>
        </p:spPr>
      </p:pic>
      <p:sp>
        <p:nvSpPr>
          <p:cNvPr id="3" name="TextBox 2">
            <a:extLst>
              <a:ext uri="{FF2B5EF4-FFF2-40B4-BE49-F238E27FC236}">
                <a16:creationId xmlns:a16="http://schemas.microsoft.com/office/drawing/2014/main" id="{1D3F752E-7FDD-A84A-B54B-A5A473373BA2}"/>
              </a:ext>
            </a:extLst>
          </p:cNvPr>
          <p:cNvSpPr txBox="1"/>
          <p:nvPr/>
        </p:nvSpPr>
        <p:spPr>
          <a:xfrm>
            <a:off x="134470" y="1008529"/>
            <a:ext cx="442632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Calibri"/>
                <a:ea typeface="Calibri"/>
                <a:cs typeface="Calibri"/>
              </a:rPr>
              <a:t> Key Points</a:t>
            </a:r>
          </a:p>
          <a:p>
            <a:pPr marL="228600" indent="-228600">
              <a:buFont typeface=""/>
              <a:buChar char="•"/>
            </a:pPr>
            <a:r>
              <a:rPr lang="en-US" dirty="0">
                <a:latin typeface="Calibri"/>
                <a:ea typeface="Calibri"/>
                <a:cs typeface="Calibri"/>
              </a:rPr>
              <a:t>The original Transformer has </a:t>
            </a:r>
            <a:r>
              <a:rPr lang="en-US" b="1" dirty="0">
                <a:latin typeface="Calibri"/>
                <a:ea typeface="Calibri"/>
                <a:cs typeface="Calibri"/>
              </a:rPr>
              <a:t>two main components</a:t>
            </a:r>
            <a:r>
              <a:rPr lang="en-US" dirty="0">
                <a:latin typeface="Calibri"/>
                <a:ea typeface="Calibri"/>
                <a:cs typeface="Calibri"/>
              </a:rPr>
              <a:t>:</a:t>
            </a:r>
            <a:br>
              <a:rPr lang="en-US" dirty="0"/>
            </a:br>
            <a:r>
              <a:rPr lang="en-US" b="1" dirty="0">
                <a:latin typeface="Calibri"/>
                <a:ea typeface="Calibri"/>
                <a:cs typeface="Calibri"/>
              </a:rPr>
              <a:t>Encoder</a:t>
            </a:r>
            <a:r>
              <a:rPr lang="en-US" dirty="0">
                <a:latin typeface="Calibri"/>
                <a:ea typeface="Calibri"/>
                <a:cs typeface="Calibri"/>
              </a:rPr>
              <a:t> and </a:t>
            </a:r>
            <a:r>
              <a:rPr lang="en-US" b="1" dirty="0">
                <a:latin typeface="Calibri"/>
                <a:ea typeface="Calibri"/>
                <a:cs typeface="Calibri"/>
              </a:rPr>
              <a:t>Decoder</a:t>
            </a:r>
          </a:p>
          <a:p>
            <a:pPr marL="228600" indent="-228600">
              <a:buFont typeface=""/>
              <a:buChar char="•"/>
            </a:pPr>
            <a:r>
              <a:rPr lang="en-US" b="1" dirty="0">
                <a:latin typeface="Calibri"/>
                <a:ea typeface="Calibri"/>
                <a:cs typeface="Calibri"/>
              </a:rPr>
              <a:t>Encoder</a:t>
            </a:r>
          </a:p>
          <a:p>
            <a:pPr marL="228600" lvl="1" indent="-228600">
              <a:buFont typeface=""/>
              <a:buChar char="•"/>
            </a:pPr>
            <a:r>
              <a:rPr lang="en-US" dirty="0">
                <a:latin typeface="Calibri"/>
                <a:ea typeface="Calibri"/>
                <a:cs typeface="Calibri"/>
              </a:rPr>
              <a:t>Processes the full input sequence</a:t>
            </a:r>
          </a:p>
          <a:p>
            <a:pPr marL="228600" lvl="1" indent="-228600">
              <a:buFont typeface=""/>
              <a:buChar char="•"/>
            </a:pPr>
            <a:r>
              <a:rPr lang="en-US" dirty="0">
                <a:latin typeface="Calibri"/>
                <a:ea typeface="Calibri"/>
                <a:cs typeface="Calibri"/>
              </a:rPr>
              <a:t>Builds rich, context-aware representations</a:t>
            </a:r>
          </a:p>
          <a:p>
            <a:pPr marL="228600" lvl="1" indent="-228600">
              <a:buFont typeface=""/>
              <a:buChar char="•"/>
            </a:pPr>
            <a:r>
              <a:rPr lang="en-US" dirty="0">
                <a:latin typeface="Calibri"/>
                <a:ea typeface="Calibri"/>
                <a:cs typeface="Calibri"/>
              </a:rPr>
              <a:t>Foundation of </a:t>
            </a:r>
            <a:r>
              <a:rPr lang="en-US" b="1" dirty="0">
                <a:latin typeface="Calibri"/>
                <a:ea typeface="Calibri"/>
                <a:cs typeface="Calibri"/>
              </a:rPr>
              <a:t>BERT</a:t>
            </a:r>
            <a:r>
              <a:rPr lang="en-US" dirty="0">
                <a:latin typeface="Calibri"/>
                <a:ea typeface="Calibri"/>
                <a:cs typeface="Calibri"/>
              </a:rPr>
              <a:t> and most </a:t>
            </a:r>
            <a:r>
              <a:rPr lang="en-US" b="1" dirty="0">
                <a:latin typeface="Calibri"/>
                <a:ea typeface="Calibri"/>
                <a:cs typeface="Calibri"/>
              </a:rPr>
              <a:t>embedding models (RAG)</a:t>
            </a:r>
          </a:p>
          <a:p>
            <a:pPr marL="228600" indent="-228600">
              <a:buFont typeface=""/>
              <a:buChar char="•"/>
            </a:pPr>
            <a:r>
              <a:rPr lang="en-US" b="1" dirty="0">
                <a:latin typeface="Calibri"/>
                <a:ea typeface="Calibri"/>
                <a:cs typeface="Calibri"/>
              </a:rPr>
              <a:t>Decoder</a:t>
            </a:r>
          </a:p>
          <a:p>
            <a:pPr marL="228600" lvl="1" indent="-228600">
              <a:buFont typeface=""/>
              <a:buChar char="•"/>
            </a:pPr>
            <a:r>
              <a:rPr lang="en-US" dirty="0">
                <a:latin typeface="Calibri"/>
                <a:ea typeface="Calibri"/>
                <a:cs typeface="Calibri"/>
              </a:rPr>
              <a:t>Uses encoded context to generate output</a:t>
            </a:r>
          </a:p>
          <a:p>
            <a:pPr marL="228600" lvl="1" indent="-228600">
              <a:buFont typeface=""/>
              <a:buChar char="•"/>
            </a:pPr>
            <a:r>
              <a:rPr lang="en-US" dirty="0">
                <a:latin typeface="Calibri"/>
                <a:ea typeface="Calibri"/>
                <a:cs typeface="Calibri"/>
              </a:rPr>
              <a:t>Performs text generation (summarization, Q&amp;A, code)</a:t>
            </a:r>
          </a:p>
          <a:p>
            <a:pPr marL="228600" lvl="1" indent="-228600">
              <a:buFont typeface=""/>
              <a:buChar char="•"/>
            </a:pPr>
            <a:r>
              <a:rPr lang="en-US" dirty="0">
                <a:latin typeface="Calibri"/>
                <a:ea typeface="Calibri"/>
                <a:cs typeface="Calibri"/>
              </a:rPr>
              <a:t>Basis of most modern </a:t>
            </a:r>
            <a:r>
              <a:rPr lang="en-US" b="1" dirty="0">
                <a:latin typeface="Calibri"/>
                <a:ea typeface="Calibri"/>
                <a:cs typeface="Calibri"/>
              </a:rPr>
              <a:t>LLMs (OpenAI, Anthropic, Cohere, Meta)</a:t>
            </a:r>
          </a:p>
          <a:p>
            <a:pPr marL="228600" indent="-228600">
              <a:buFont typeface=""/>
              <a:buChar char="•"/>
            </a:pPr>
            <a:r>
              <a:rPr lang="en-US" dirty="0">
                <a:latin typeface="Calibri"/>
                <a:ea typeface="Calibri"/>
                <a:cs typeface="Calibri"/>
              </a:rPr>
              <a:t>Encoder–Decoder design is the foundation of modern language models</a:t>
            </a:r>
          </a:p>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D056-2F6F-6511-63CE-8A035558E854}"/>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C9B7E1B8-4189-7A28-1D20-5BADE1E51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3DFA4659-7761-F012-10CC-C99A7DC39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B906EEC4-D0B6-BCD0-69B5-6E7F306D3390}"/>
              </a:ext>
            </a:extLst>
          </p:cNvPr>
          <p:cNvSpPr/>
          <p:nvPr/>
        </p:nvSpPr>
        <p:spPr>
          <a:xfrm>
            <a:off x="247650" y="147638"/>
            <a:ext cx="10667180" cy="707886"/>
          </a:xfrm>
          <a:prstGeom prst="rect">
            <a:avLst/>
          </a:prstGeom>
        </p:spPr>
        <p:txBody>
          <a:bodyPr wrap="square" lIns="91440" tIns="45720" rIns="91440" bIns="45720" anchor="t">
            <a:spAutoFit/>
          </a:bodyPr>
          <a:lstStyle/>
          <a:p>
            <a:pPr eaLnBrk="1" fontAlgn="auto" hangingPunct="1">
              <a:spcBef>
                <a:spcPts val="0"/>
              </a:spcBef>
              <a:spcAft>
                <a:spcPts val="0"/>
              </a:spcAft>
              <a:defRPr/>
            </a:pPr>
            <a:r>
              <a:rPr lang="it-IT" sz="4000" b="1" dirty="0">
                <a:solidFill>
                  <a:schemeClr val="bg2">
                    <a:lumMod val="25000"/>
                  </a:schemeClr>
                </a:solidFill>
                <a:latin typeface="+mn-lt"/>
              </a:rPr>
              <a:t>Course </a:t>
            </a:r>
            <a:r>
              <a:rPr lang="it-IT" sz="4000" b="1" dirty="0" err="1">
                <a:solidFill>
                  <a:schemeClr val="bg2">
                    <a:lumMod val="25000"/>
                  </a:schemeClr>
                </a:solidFill>
                <a:latin typeface="+mn-lt"/>
              </a:rPr>
              <a:t>Outline</a:t>
            </a:r>
            <a:r>
              <a:rPr lang="it-IT" sz="4000" b="1" dirty="0">
                <a:solidFill>
                  <a:schemeClr val="bg2">
                    <a:lumMod val="25000"/>
                  </a:schemeClr>
                </a:solidFill>
                <a:latin typeface="+mn-lt"/>
              </a:rPr>
              <a:t> – </a:t>
            </a:r>
            <a:r>
              <a:rPr lang="it-IT" sz="4000" b="1" dirty="0" err="1">
                <a:solidFill>
                  <a:schemeClr val="bg2">
                    <a:lumMod val="25000"/>
                  </a:schemeClr>
                </a:solidFill>
                <a:latin typeface="+mn-lt"/>
              </a:rPr>
              <a:t>Recent</a:t>
            </a:r>
            <a:r>
              <a:rPr lang="it-IT" sz="4000" b="1" dirty="0">
                <a:solidFill>
                  <a:schemeClr val="bg2">
                    <a:lumMod val="25000"/>
                  </a:schemeClr>
                </a:solidFill>
                <a:latin typeface="+mn-lt"/>
              </a:rPr>
              <a:t> </a:t>
            </a:r>
            <a:r>
              <a:rPr lang="it-IT" sz="4000" b="1" dirty="0" err="1">
                <a:solidFill>
                  <a:schemeClr val="bg2">
                    <a:lumMod val="25000"/>
                  </a:schemeClr>
                </a:solidFill>
                <a:latin typeface="+mn-lt"/>
              </a:rPr>
              <a:t>development</a:t>
            </a:r>
            <a:r>
              <a:rPr lang="it-IT" sz="4000" b="1" dirty="0">
                <a:solidFill>
                  <a:schemeClr val="bg2">
                    <a:lumMod val="25000"/>
                  </a:schemeClr>
                </a:solidFill>
                <a:latin typeface="+mn-lt"/>
              </a:rPr>
              <a:t> in </a:t>
            </a:r>
            <a:r>
              <a:rPr lang="it-IT" sz="4000" b="1" dirty="0" err="1">
                <a:solidFill>
                  <a:schemeClr val="bg2">
                    <a:lumMod val="25000"/>
                  </a:schemeClr>
                </a:solidFill>
                <a:latin typeface="+mn-lt"/>
              </a:rPr>
              <a:t>LLMs</a:t>
            </a:r>
            <a:endParaRPr lang="it-IT" sz="4000" b="1" dirty="0" err="1">
              <a:solidFill>
                <a:schemeClr val="bg2">
                  <a:lumMod val="25000"/>
                </a:schemeClr>
              </a:solidFill>
              <a:latin typeface="+mn-lt"/>
              <a:ea typeface="Calibri"/>
              <a:cs typeface="Calibri"/>
            </a:endParaRPr>
          </a:p>
        </p:txBody>
      </p:sp>
      <p:pic>
        <p:nvPicPr>
          <p:cNvPr id="3" name="Picture 2" descr="A close-up of a computer program&#10;&#10;AI-generated content may be incorrect.">
            <a:extLst>
              <a:ext uri="{FF2B5EF4-FFF2-40B4-BE49-F238E27FC236}">
                <a16:creationId xmlns:a16="http://schemas.microsoft.com/office/drawing/2014/main" id="{060AAEEB-AA74-570B-CE94-DC3F608CA1E4}"/>
              </a:ext>
            </a:extLst>
          </p:cNvPr>
          <p:cNvPicPr>
            <a:picLocks noChangeAspect="1"/>
          </p:cNvPicPr>
          <p:nvPr/>
        </p:nvPicPr>
        <p:blipFill>
          <a:blip r:embed="rId5"/>
          <a:stretch>
            <a:fillRect/>
          </a:stretch>
        </p:blipFill>
        <p:spPr>
          <a:xfrm>
            <a:off x="0" y="1609367"/>
            <a:ext cx="12192000" cy="3639266"/>
          </a:xfrm>
          <a:prstGeom prst="rect">
            <a:avLst/>
          </a:prstGeom>
        </p:spPr>
      </p:pic>
    </p:spTree>
    <p:extLst>
      <p:ext uri="{BB962C8B-B14F-4D97-AF65-F5344CB8AC3E}">
        <p14:creationId xmlns:p14="http://schemas.microsoft.com/office/powerpoint/2010/main" val="1129265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B901B-3C78-E1F4-2C71-0F48A6C2004A}"/>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DD4FA976-A9F4-B307-D2FB-86F74B229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64919A1A-6286-8368-6A71-3918FDC21B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A4FAC345-6D45-BD5F-8BCC-4AF5656E8009}"/>
              </a:ext>
            </a:extLst>
          </p:cNvPr>
          <p:cNvSpPr/>
          <p:nvPr/>
        </p:nvSpPr>
        <p:spPr>
          <a:xfrm>
            <a:off x="247650" y="147638"/>
            <a:ext cx="10911595" cy="707886"/>
          </a:xfrm>
          <a:prstGeom prst="rect">
            <a:avLst/>
          </a:prstGeom>
        </p:spPr>
        <p:txBody>
          <a:bodyPr wrap="square" lIns="91440" tIns="45720" rIns="91440" bIns="45720" anchor="t">
            <a:spAutoFit/>
          </a:bodyPr>
          <a:lstStyle/>
          <a:p>
            <a:pPr eaLnBrk="1" fontAlgn="auto" hangingPunct="1">
              <a:spcBef>
                <a:spcPts val="0"/>
              </a:spcBef>
              <a:spcAft>
                <a:spcPts val="0"/>
              </a:spcAft>
              <a:defRPr/>
            </a:pPr>
            <a:r>
              <a:rPr lang="it-IT" sz="4000" b="1" dirty="0">
                <a:solidFill>
                  <a:schemeClr val="bg2">
                    <a:lumMod val="25000"/>
                  </a:schemeClr>
                </a:solidFill>
                <a:latin typeface="+mn-lt"/>
              </a:rPr>
              <a:t>Course </a:t>
            </a:r>
            <a:r>
              <a:rPr lang="it-IT" sz="4000" b="1" dirty="0" err="1">
                <a:solidFill>
                  <a:schemeClr val="bg2">
                    <a:lumMod val="25000"/>
                  </a:schemeClr>
                </a:solidFill>
                <a:latin typeface="+mn-lt"/>
              </a:rPr>
              <a:t>Outline</a:t>
            </a:r>
            <a:r>
              <a:rPr lang="it-IT" sz="4000" b="1" dirty="0">
                <a:solidFill>
                  <a:schemeClr val="bg2">
                    <a:lumMod val="25000"/>
                  </a:schemeClr>
                </a:solidFill>
                <a:latin typeface="+mn-lt"/>
              </a:rPr>
              <a:t> – </a:t>
            </a:r>
            <a:r>
              <a:rPr lang="it-IT" sz="4000" b="1" dirty="0" err="1">
                <a:solidFill>
                  <a:schemeClr val="bg2">
                    <a:lumMod val="25000"/>
                  </a:schemeClr>
                </a:solidFill>
                <a:latin typeface="+mn-lt"/>
              </a:rPr>
              <a:t>Tokenization</a:t>
            </a:r>
            <a:endParaRPr lang="it-IT" sz="4000" b="1" dirty="0" err="1">
              <a:solidFill>
                <a:schemeClr val="bg2">
                  <a:lumMod val="25000"/>
                </a:schemeClr>
              </a:solidFill>
              <a:latin typeface="+mn-lt"/>
              <a:ea typeface="Calibri"/>
              <a:cs typeface="Calibri"/>
            </a:endParaRPr>
          </a:p>
        </p:txBody>
      </p:sp>
      <p:pic>
        <p:nvPicPr>
          <p:cNvPr id="2" name="Picture 1" descr="A screenshot of a computer&#10;&#10;AI-generated content may be incorrect.">
            <a:extLst>
              <a:ext uri="{FF2B5EF4-FFF2-40B4-BE49-F238E27FC236}">
                <a16:creationId xmlns:a16="http://schemas.microsoft.com/office/drawing/2014/main" id="{155FCAE2-F04A-1F2A-30EB-DA727E922A49}"/>
              </a:ext>
            </a:extLst>
          </p:cNvPr>
          <p:cNvPicPr>
            <a:picLocks noChangeAspect="1"/>
          </p:cNvPicPr>
          <p:nvPr/>
        </p:nvPicPr>
        <p:blipFill>
          <a:blip r:embed="rId5"/>
          <a:stretch>
            <a:fillRect/>
          </a:stretch>
        </p:blipFill>
        <p:spPr>
          <a:xfrm>
            <a:off x="1014805" y="1348348"/>
            <a:ext cx="10153088" cy="4150097"/>
          </a:xfrm>
          <a:prstGeom prst="rect">
            <a:avLst/>
          </a:prstGeom>
        </p:spPr>
      </p:pic>
      <p:sp>
        <p:nvSpPr>
          <p:cNvPr id="4" name="TextBox 3">
            <a:extLst>
              <a:ext uri="{FF2B5EF4-FFF2-40B4-BE49-F238E27FC236}">
                <a16:creationId xmlns:a16="http://schemas.microsoft.com/office/drawing/2014/main" id="{98C74723-EBF9-0C79-DB60-9E5362809CEB}"/>
              </a:ext>
            </a:extLst>
          </p:cNvPr>
          <p:cNvSpPr txBox="1"/>
          <p:nvPr/>
        </p:nvSpPr>
        <p:spPr>
          <a:xfrm>
            <a:off x="615479" y="5628946"/>
            <a:ext cx="112955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Calibri"/>
              </a:rPr>
              <a:t>Tokenization, which consists of taking text and breaking it down into tokens that comprise words or word fragments.</a:t>
            </a:r>
            <a:r>
              <a:rPr dirty="0">
                <a:latin typeface="Calibri"/>
                <a:ea typeface="Calibri"/>
                <a:cs typeface="Calibri"/>
              </a:rPr>
              <a:t>​</a:t>
            </a:r>
            <a:endParaRPr lang="en-US" dirty="0"/>
          </a:p>
          <a:p>
            <a:pPr algn="ctr"/>
            <a:endParaRPr lang="en-US"/>
          </a:p>
        </p:txBody>
      </p:sp>
    </p:spTree>
    <p:extLst>
      <p:ext uri="{BB962C8B-B14F-4D97-AF65-F5344CB8AC3E}">
        <p14:creationId xmlns:p14="http://schemas.microsoft.com/office/powerpoint/2010/main" val="706544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1FE52-DD54-117D-ED60-C5A562B86561}"/>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3C633BB9-7534-4B59-FE33-7DD97BA73D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FDBE6FA5-54A4-C47E-D837-923AC3FBB8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061F1510-50DB-5B84-C705-C6E49BF5A881}"/>
              </a:ext>
            </a:extLst>
          </p:cNvPr>
          <p:cNvSpPr/>
          <p:nvPr/>
        </p:nvSpPr>
        <p:spPr>
          <a:xfrm>
            <a:off x="247650" y="147638"/>
            <a:ext cx="10911595" cy="707886"/>
          </a:xfrm>
          <a:prstGeom prst="rect">
            <a:avLst/>
          </a:prstGeom>
        </p:spPr>
        <p:txBody>
          <a:bodyPr wrap="square" lIns="91440" tIns="45720" rIns="91440" bIns="45720" anchor="t">
            <a:spAutoFit/>
          </a:bodyPr>
          <a:lstStyle/>
          <a:p>
            <a:pPr eaLnBrk="1" fontAlgn="auto" hangingPunct="1">
              <a:spcBef>
                <a:spcPts val="0"/>
              </a:spcBef>
              <a:spcAft>
                <a:spcPts val="0"/>
              </a:spcAft>
              <a:defRPr/>
            </a:pPr>
            <a:r>
              <a:rPr lang="it-IT" sz="4000" b="1" dirty="0">
                <a:solidFill>
                  <a:schemeClr val="bg2">
                    <a:lumMod val="25000"/>
                  </a:schemeClr>
                </a:solidFill>
                <a:latin typeface="+mn-lt"/>
              </a:rPr>
              <a:t>Course </a:t>
            </a:r>
            <a:r>
              <a:rPr lang="it-IT" sz="4000" b="1" dirty="0" err="1">
                <a:solidFill>
                  <a:schemeClr val="bg2">
                    <a:lumMod val="25000"/>
                  </a:schemeClr>
                </a:solidFill>
                <a:latin typeface="+mn-lt"/>
              </a:rPr>
              <a:t>Outline</a:t>
            </a:r>
            <a:r>
              <a:rPr lang="it-IT" sz="4000" b="1" dirty="0">
                <a:solidFill>
                  <a:schemeClr val="bg2">
                    <a:lumMod val="25000"/>
                  </a:schemeClr>
                </a:solidFill>
                <a:latin typeface="+mn-lt"/>
              </a:rPr>
              <a:t> – Decoder-</a:t>
            </a:r>
            <a:r>
              <a:rPr lang="it-IT" sz="4000" b="1" dirty="0" err="1">
                <a:solidFill>
                  <a:schemeClr val="bg2">
                    <a:lumMod val="25000"/>
                  </a:schemeClr>
                </a:solidFill>
                <a:latin typeface="+mn-lt"/>
              </a:rPr>
              <a:t>Only</a:t>
            </a:r>
            <a:r>
              <a:rPr lang="it-IT" sz="4000" b="1" dirty="0">
                <a:solidFill>
                  <a:schemeClr val="bg2">
                    <a:lumMod val="25000"/>
                  </a:schemeClr>
                </a:solidFill>
                <a:latin typeface="+mn-lt"/>
              </a:rPr>
              <a:t> Transformer </a:t>
            </a:r>
            <a:endParaRPr lang="it-IT" sz="4000" b="1" dirty="0" err="1">
              <a:solidFill>
                <a:schemeClr val="bg2">
                  <a:lumMod val="25000"/>
                </a:schemeClr>
              </a:solidFill>
              <a:latin typeface="+mn-lt"/>
              <a:ea typeface="Calibri"/>
              <a:cs typeface="Calibri"/>
            </a:endParaRPr>
          </a:p>
        </p:txBody>
      </p:sp>
      <p:sp>
        <p:nvSpPr>
          <p:cNvPr id="3" name="TextBox 2">
            <a:extLst>
              <a:ext uri="{FF2B5EF4-FFF2-40B4-BE49-F238E27FC236}">
                <a16:creationId xmlns:a16="http://schemas.microsoft.com/office/drawing/2014/main" id="{751BA150-3666-9360-B590-5A62821E2FB9}"/>
              </a:ext>
            </a:extLst>
          </p:cNvPr>
          <p:cNvSpPr txBox="1"/>
          <p:nvPr/>
        </p:nvSpPr>
        <p:spPr>
          <a:xfrm>
            <a:off x="250335" y="851647"/>
            <a:ext cx="6006352" cy="5847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Generation Process</a:t>
            </a:r>
          </a:p>
          <a:p>
            <a:pPr marL="228600" indent="-228600">
              <a:buFont typeface=""/>
              <a:buChar char="•"/>
            </a:pPr>
            <a:r>
              <a:rPr lang="en-US" sz="1700" dirty="0">
                <a:latin typeface="Calibri"/>
                <a:ea typeface="Calibri"/>
                <a:cs typeface="Calibri"/>
              </a:rPr>
              <a:t>Focus on </a:t>
            </a:r>
            <a:r>
              <a:rPr lang="en-US" sz="1700" b="1" dirty="0">
                <a:latin typeface="Calibri"/>
                <a:ea typeface="Calibri"/>
                <a:cs typeface="Calibri"/>
              </a:rPr>
              <a:t>decoder-only architecture</a:t>
            </a:r>
            <a:r>
              <a:rPr lang="en-US" sz="1700" dirty="0">
                <a:latin typeface="Calibri"/>
                <a:ea typeface="Calibri"/>
                <a:cs typeface="Calibri"/>
              </a:rPr>
              <a:t> </a:t>
            </a:r>
            <a:br>
              <a:rPr lang="en-US" sz="1700" dirty="0">
                <a:latin typeface="Calibri"/>
                <a:ea typeface="Calibri"/>
                <a:cs typeface="Calibri"/>
              </a:rPr>
            </a:br>
            <a:r>
              <a:rPr lang="en-US" sz="1700" dirty="0">
                <a:latin typeface="Calibri"/>
                <a:ea typeface="Calibri"/>
                <a:cs typeface="Calibri"/>
              </a:rPr>
              <a:t>(used in modern LLMs)</a:t>
            </a:r>
          </a:p>
          <a:p>
            <a:pPr marL="228600" indent="-228600">
              <a:buFont typeface=""/>
              <a:buChar char="•"/>
            </a:pPr>
            <a:r>
              <a:rPr lang="en-US" sz="1700" dirty="0">
                <a:latin typeface="Calibri"/>
                <a:ea typeface="Calibri"/>
                <a:cs typeface="Calibri"/>
              </a:rPr>
              <a:t>A generative model:</a:t>
            </a:r>
          </a:p>
          <a:p>
            <a:pPr marL="685800" lvl="2" indent="-228600">
              <a:buFont typeface=""/>
              <a:buChar char="•"/>
            </a:pPr>
            <a:r>
              <a:rPr lang="en-US" sz="1700" dirty="0">
                <a:latin typeface="Calibri"/>
                <a:ea typeface="Calibri"/>
                <a:cs typeface="Calibri"/>
              </a:rPr>
              <a:t>Takes a </a:t>
            </a:r>
            <a:r>
              <a:rPr lang="en-US" sz="1700" b="1" dirty="0">
                <a:latin typeface="Calibri"/>
                <a:ea typeface="Calibri"/>
                <a:cs typeface="Calibri"/>
              </a:rPr>
              <a:t>text prompt</a:t>
            </a:r>
          </a:p>
          <a:p>
            <a:pPr marL="685800" lvl="2" indent="-228600">
              <a:buFont typeface=""/>
              <a:buChar char="•"/>
            </a:pPr>
            <a:r>
              <a:rPr lang="en-US" sz="1700" dirty="0">
                <a:latin typeface="Calibri"/>
                <a:ea typeface="Calibri"/>
                <a:cs typeface="Calibri"/>
              </a:rPr>
              <a:t>Generates output </a:t>
            </a:r>
            <a:r>
              <a:rPr lang="en-US" sz="1700" b="1" dirty="0">
                <a:latin typeface="Calibri"/>
                <a:ea typeface="Calibri"/>
                <a:cs typeface="Calibri"/>
              </a:rPr>
              <a:t>one token at a time</a:t>
            </a:r>
          </a:p>
          <a:p>
            <a:r>
              <a:rPr lang="en-US" sz="1700" b="1" dirty="0">
                <a:latin typeface="Calibri"/>
                <a:ea typeface="Calibri"/>
                <a:cs typeface="Calibri"/>
              </a:rPr>
              <a:t>Generation Pipeline</a:t>
            </a:r>
          </a:p>
          <a:p>
            <a:pPr marL="228600" indent="-228600">
              <a:buFont typeface=""/>
              <a:buChar char="•"/>
            </a:pPr>
            <a:r>
              <a:rPr lang="en-US" sz="1700" b="1" dirty="0">
                <a:latin typeface="Calibri"/>
                <a:ea typeface="Calibri"/>
                <a:cs typeface="Calibri"/>
              </a:rPr>
              <a:t>Token Embedding</a:t>
            </a:r>
          </a:p>
          <a:p>
            <a:pPr marL="685800" lvl="2" indent="-228600">
              <a:buFont typeface=""/>
              <a:buChar char="•"/>
            </a:pPr>
            <a:r>
              <a:rPr lang="en-US" sz="1700" dirty="0">
                <a:latin typeface="Calibri"/>
                <a:ea typeface="Calibri"/>
                <a:cs typeface="Calibri"/>
              </a:rPr>
              <a:t>Each input token is converted into a </a:t>
            </a:r>
            <a:br>
              <a:rPr lang="en-US" sz="1700" dirty="0">
                <a:latin typeface="Calibri"/>
                <a:ea typeface="Calibri"/>
                <a:cs typeface="Calibri"/>
              </a:rPr>
            </a:br>
            <a:r>
              <a:rPr lang="en-US" sz="1700" dirty="0">
                <a:latin typeface="Calibri"/>
                <a:ea typeface="Calibri"/>
                <a:cs typeface="Calibri"/>
              </a:rPr>
              <a:t>numerical embedding vector</a:t>
            </a:r>
            <a:endParaRPr lang="en-US" sz="1700" dirty="0">
              <a:ea typeface="Calibri"/>
              <a:cs typeface="Calibri"/>
            </a:endParaRPr>
          </a:p>
          <a:p>
            <a:pPr marL="228600" indent="-228600">
              <a:buFont typeface=""/>
              <a:buChar char="•"/>
            </a:pPr>
            <a:r>
              <a:rPr lang="en-US" sz="1700" b="1" dirty="0">
                <a:latin typeface="Calibri"/>
                <a:ea typeface="Calibri"/>
                <a:cs typeface="Calibri"/>
              </a:rPr>
              <a:t>Transformer Blocks</a:t>
            </a:r>
          </a:p>
          <a:p>
            <a:pPr marL="685800" lvl="2" indent="-228600">
              <a:buFont typeface=""/>
              <a:buChar char="•"/>
            </a:pPr>
            <a:r>
              <a:rPr lang="en-US" sz="1700" dirty="0">
                <a:latin typeface="Calibri"/>
                <a:ea typeface="Calibri"/>
                <a:cs typeface="Calibri"/>
              </a:rPr>
              <a:t>Embeddings pass through a stack of </a:t>
            </a:r>
            <a:br>
              <a:rPr lang="en-US" sz="1700" dirty="0">
                <a:latin typeface="Calibri"/>
                <a:ea typeface="Calibri"/>
                <a:cs typeface="Calibri"/>
              </a:rPr>
            </a:br>
            <a:r>
              <a:rPr lang="en-US" sz="1700" dirty="0">
                <a:latin typeface="Calibri"/>
                <a:ea typeface="Calibri"/>
                <a:cs typeface="Calibri"/>
              </a:rPr>
              <a:t>transformer layers</a:t>
            </a:r>
            <a:endParaRPr lang="en-US" sz="1700" dirty="0">
              <a:ea typeface="Calibri"/>
              <a:cs typeface="Calibri"/>
            </a:endParaRPr>
          </a:p>
          <a:p>
            <a:pPr marL="685800" lvl="2" indent="-228600">
              <a:buFont typeface=""/>
              <a:buChar char="•"/>
            </a:pPr>
            <a:r>
              <a:rPr lang="en-US" sz="1700" dirty="0">
                <a:latin typeface="Calibri"/>
                <a:ea typeface="Calibri"/>
                <a:cs typeface="Calibri"/>
              </a:rPr>
              <a:t>Each block contains:</a:t>
            </a:r>
          </a:p>
          <a:p>
            <a:pPr marL="1143000" lvl="4" indent="-228600">
              <a:buFont typeface=""/>
              <a:buChar char="•"/>
            </a:pPr>
            <a:r>
              <a:rPr lang="en-US" sz="1700" b="1" dirty="0">
                <a:latin typeface="Calibri"/>
                <a:ea typeface="Calibri"/>
                <a:cs typeface="Calibri"/>
              </a:rPr>
              <a:t>Self-attention layer</a:t>
            </a:r>
          </a:p>
          <a:p>
            <a:pPr marL="1143000" lvl="4" indent="-228600">
              <a:buFont typeface=""/>
              <a:buChar char="•"/>
            </a:pPr>
            <a:r>
              <a:rPr lang="en-US" sz="1700" b="1" dirty="0">
                <a:latin typeface="Calibri"/>
                <a:ea typeface="Calibri"/>
                <a:cs typeface="Calibri"/>
              </a:rPr>
              <a:t>Feed-forward neural network</a:t>
            </a:r>
          </a:p>
          <a:p>
            <a:pPr marL="685800" lvl="2" indent="-228600">
              <a:buFont typeface=""/>
              <a:buChar char="•"/>
            </a:pPr>
            <a:r>
              <a:rPr lang="en-US" sz="1700" dirty="0">
                <a:latin typeface="Calibri"/>
                <a:ea typeface="Calibri"/>
                <a:cs typeface="Calibri"/>
              </a:rPr>
              <a:t>Designed for scalability on GPUs</a:t>
            </a:r>
          </a:p>
          <a:p>
            <a:pPr marL="228600" indent="-228600">
              <a:buFont typeface=""/>
              <a:buChar char="•"/>
            </a:pPr>
            <a:r>
              <a:rPr lang="en-US" sz="1700" b="1" dirty="0">
                <a:latin typeface="Calibri"/>
                <a:ea typeface="Calibri"/>
                <a:cs typeface="Calibri"/>
              </a:rPr>
              <a:t>Language Modeling Head</a:t>
            </a:r>
          </a:p>
          <a:p>
            <a:pPr marL="685800" lvl="2" indent="-228600">
              <a:buFont typeface=""/>
              <a:buChar char="•"/>
            </a:pPr>
            <a:r>
              <a:rPr lang="en-US" sz="1700" dirty="0">
                <a:latin typeface="Calibri"/>
                <a:ea typeface="Calibri"/>
                <a:cs typeface="Calibri"/>
              </a:rPr>
              <a:t>Final layer</a:t>
            </a:r>
          </a:p>
          <a:p>
            <a:pPr marL="685800" lvl="2" indent="-228600">
              <a:buFont typeface=""/>
              <a:buChar char="•"/>
            </a:pPr>
            <a:r>
              <a:rPr lang="en-US" sz="1700" dirty="0">
                <a:latin typeface="Calibri"/>
                <a:ea typeface="Calibri"/>
                <a:cs typeface="Calibri"/>
              </a:rPr>
              <a:t>Converts transformer outputs into the </a:t>
            </a:r>
            <a:r>
              <a:rPr lang="en-US" sz="1700" b="1" dirty="0">
                <a:latin typeface="Calibri"/>
                <a:ea typeface="Calibri"/>
                <a:cs typeface="Calibri"/>
              </a:rPr>
              <a:t>next predicted token</a:t>
            </a:r>
          </a:p>
          <a:p>
            <a:pPr algn="ctr"/>
            <a:endParaRPr lang="en-US" sz="1700" dirty="0">
              <a:ea typeface="Calibri"/>
              <a:cs typeface="Calibri"/>
            </a:endParaRPr>
          </a:p>
        </p:txBody>
      </p:sp>
      <p:pic>
        <p:nvPicPr>
          <p:cNvPr id="4" name="Picture 3" descr="A diagram of a transformer block&#10;&#10;AI-generated content may be incorrect.">
            <a:extLst>
              <a:ext uri="{FF2B5EF4-FFF2-40B4-BE49-F238E27FC236}">
                <a16:creationId xmlns:a16="http://schemas.microsoft.com/office/drawing/2014/main" id="{CEBDCA96-FD8A-FDD8-55CD-D9B14170D0C2}"/>
              </a:ext>
            </a:extLst>
          </p:cNvPr>
          <p:cNvPicPr>
            <a:picLocks noChangeAspect="1"/>
          </p:cNvPicPr>
          <p:nvPr/>
        </p:nvPicPr>
        <p:blipFill>
          <a:blip r:embed="rId5"/>
          <a:stretch>
            <a:fillRect/>
          </a:stretch>
        </p:blipFill>
        <p:spPr>
          <a:xfrm>
            <a:off x="4888566" y="941574"/>
            <a:ext cx="7143750" cy="5019675"/>
          </a:xfrm>
          <a:prstGeom prst="rect">
            <a:avLst/>
          </a:prstGeom>
        </p:spPr>
      </p:pic>
    </p:spTree>
    <p:extLst>
      <p:ext uri="{BB962C8B-B14F-4D97-AF65-F5344CB8AC3E}">
        <p14:creationId xmlns:p14="http://schemas.microsoft.com/office/powerpoint/2010/main" val="3898792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897C-AFA8-882E-FC41-34B839CECC7B}"/>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B966683C-DBEB-121A-EED7-F8ACD00325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4DFD8FFF-8063-6B2A-E27D-60C129AEAD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46C04E22-94EE-5516-9126-18E87388B079}"/>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a:solidFill>
                  <a:schemeClr val="bg2">
                    <a:lumMod val="25000"/>
                  </a:schemeClr>
                </a:solidFill>
                <a:latin typeface="+mn-lt"/>
              </a:rPr>
              <a:t>Language Models - History</a:t>
            </a:r>
            <a:endParaRPr lang="en-US" dirty="0">
              <a:solidFill>
                <a:schemeClr val="bg2">
                  <a:lumMod val="25000"/>
                </a:schemeClr>
              </a:solidFill>
            </a:endParaRPr>
          </a:p>
        </p:txBody>
      </p:sp>
      <p:pic>
        <p:nvPicPr>
          <p:cNvPr id="2" name="Picture 1" descr="A diagram of a language&#10;&#10;AI-generated content may be incorrect.">
            <a:extLst>
              <a:ext uri="{FF2B5EF4-FFF2-40B4-BE49-F238E27FC236}">
                <a16:creationId xmlns:a16="http://schemas.microsoft.com/office/drawing/2014/main" id="{5FB17D80-373E-7166-7F41-76983227C588}"/>
              </a:ext>
            </a:extLst>
          </p:cNvPr>
          <p:cNvPicPr>
            <a:picLocks noChangeAspect="1"/>
          </p:cNvPicPr>
          <p:nvPr/>
        </p:nvPicPr>
        <p:blipFill>
          <a:blip r:embed="rId5"/>
          <a:stretch>
            <a:fillRect/>
          </a:stretch>
        </p:blipFill>
        <p:spPr>
          <a:xfrm>
            <a:off x="1078543" y="851639"/>
            <a:ext cx="10306311" cy="5530503"/>
          </a:xfrm>
          <a:prstGeom prst="rect">
            <a:avLst/>
          </a:prstGeom>
        </p:spPr>
      </p:pic>
    </p:spTree>
    <p:extLst>
      <p:ext uri="{BB962C8B-B14F-4D97-AF65-F5344CB8AC3E}">
        <p14:creationId xmlns:p14="http://schemas.microsoft.com/office/powerpoint/2010/main" val="78257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856B2-0E8F-871F-F7B5-AA0A08D8FA91}"/>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F4AE8986-58F7-A923-F74E-05ED028883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B9C9EF42-63A9-41CE-C11D-3909A552D5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46398B34-30FB-9F78-12A8-F5F121C80440}"/>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a:solidFill>
                  <a:schemeClr val="bg2">
                    <a:lumMod val="25000"/>
                  </a:schemeClr>
                </a:solidFill>
                <a:latin typeface="+mn-lt"/>
              </a:rPr>
              <a:t>Language  Models - Language and AI</a:t>
            </a:r>
            <a:endParaRPr lang="en-US" dirty="0">
              <a:solidFill>
                <a:schemeClr val="bg2">
                  <a:lumMod val="25000"/>
                </a:schemeClr>
              </a:solidFill>
            </a:endParaRPr>
          </a:p>
        </p:txBody>
      </p:sp>
      <p:pic>
        <p:nvPicPr>
          <p:cNvPr id="3" name="Picture 2" descr="A diagram of a language&#10;&#10;AI-generated content may be incorrect.">
            <a:extLst>
              <a:ext uri="{FF2B5EF4-FFF2-40B4-BE49-F238E27FC236}">
                <a16:creationId xmlns:a16="http://schemas.microsoft.com/office/drawing/2014/main" id="{9352A657-D354-C642-C8B7-13C7FD77A465}"/>
              </a:ext>
            </a:extLst>
          </p:cNvPr>
          <p:cNvPicPr>
            <a:picLocks noChangeAspect="1"/>
          </p:cNvPicPr>
          <p:nvPr/>
        </p:nvPicPr>
        <p:blipFill>
          <a:blip r:embed="rId5"/>
          <a:stretch>
            <a:fillRect/>
          </a:stretch>
        </p:blipFill>
        <p:spPr>
          <a:xfrm>
            <a:off x="4928712" y="1066965"/>
            <a:ext cx="7000875" cy="5000625"/>
          </a:xfrm>
          <a:prstGeom prst="rect">
            <a:avLst/>
          </a:prstGeom>
        </p:spPr>
      </p:pic>
      <p:sp>
        <p:nvSpPr>
          <p:cNvPr id="4" name="TextBox 3">
            <a:extLst>
              <a:ext uri="{FF2B5EF4-FFF2-40B4-BE49-F238E27FC236}">
                <a16:creationId xmlns:a16="http://schemas.microsoft.com/office/drawing/2014/main" id="{0973180A-126E-8682-2CD7-2EE7383E18F7}"/>
              </a:ext>
            </a:extLst>
          </p:cNvPr>
          <p:cNvSpPr txBox="1"/>
          <p:nvPr/>
        </p:nvSpPr>
        <p:spPr>
          <a:xfrm>
            <a:off x="246530" y="1266265"/>
            <a:ext cx="451597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Calibri"/>
                <a:ea typeface="Calibri"/>
                <a:cs typeface="Calibri"/>
              </a:rPr>
              <a:t>Key Ideas</a:t>
            </a:r>
          </a:p>
          <a:p>
            <a:pPr marL="228600" indent="-228600">
              <a:buFont typeface=""/>
              <a:buChar char="•"/>
            </a:pPr>
            <a:r>
              <a:rPr lang="en-US" dirty="0">
                <a:latin typeface="Calibri"/>
                <a:ea typeface="Calibri"/>
                <a:cs typeface="Calibri"/>
              </a:rPr>
              <a:t>Language is difficult for computers because it is </a:t>
            </a:r>
            <a:r>
              <a:rPr lang="en-US" b="1" dirty="0">
                <a:latin typeface="Calibri"/>
                <a:ea typeface="Calibri"/>
                <a:cs typeface="Calibri"/>
              </a:rPr>
              <a:t>unstructured</a:t>
            </a:r>
          </a:p>
          <a:p>
            <a:pPr marL="228600" indent="-228600">
              <a:buFont typeface=""/>
              <a:buChar char="•"/>
            </a:pPr>
            <a:r>
              <a:rPr lang="en-US" dirty="0">
                <a:latin typeface="Calibri"/>
                <a:ea typeface="Calibri"/>
                <a:cs typeface="Calibri"/>
              </a:rPr>
              <a:t>Raw text loses meaning when reduced to </a:t>
            </a:r>
            <a:r>
              <a:rPr lang="en-US" b="1" dirty="0">
                <a:latin typeface="Calibri"/>
                <a:ea typeface="Calibri"/>
                <a:cs typeface="Calibri"/>
              </a:rPr>
              <a:t>bits or individual characters</a:t>
            </a:r>
          </a:p>
          <a:p>
            <a:pPr marL="228600" indent="-228600">
              <a:buFont typeface=""/>
              <a:buChar char="•"/>
            </a:pPr>
            <a:r>
              <a:rPr lang="en-US" dirty="0">
                <a:latin typeface="Calibri"/>
                <a:ea typeface="Calibri"/>
                <a:cs typeface="Calibri"/>
              </a:rPr>
              <a:t>A central goal of language AI is to create </a:t>
            </a:r>
            <a:r>
              <a:rPr lang="en-US" b="1" dirty="0">
                <a:latin typeface="Calibri"/>
                <a:ea typeface="Calibri"/>
                <a:cs typeface="Calibri"/>
              </a:rPr>
              <a:t>structured representations</a:t>
            </a:r>
            <a:r>
              <a:rPr lang="en-US" dirty="0">
                <a:latin typeface="Calibri"/>
                <a:ea typeface="Calibri"/>
                <a:cs typeface="Calibri"/>
              </a:rPr>
              <a:t> of text</a:t>
            </a:r>
          </a:p>
          <a:p>
            <a:pPr marL="228600" indent="-228600">
              <a:buFont typeface=""/>
              <a:buChar char="•"/>
            </a:pPr>
            <a:r>
              <a:rPr lang="en-US" dirty="0">
                <a:latin typeface="Calibri"/>
                <a:ea typeface="Calibri"/>
                <a:cs typeface="Calibri"/>
              </a:rPr>
              <a:t>Structured representations enable tasks such as:</a:t>
            </a:r>
          </a:p>
          <a:p>
            <a:pPr marL="685800" lvl="2" indent="-228600">
              <a:buFont typeface="Wingdings"/>
              <a:buChar char="§"/>
            </a:pPr>
            <a:r>
              <a:rPr lang="en-US" dirty="0">
                <a:latin typeface="Calibri"/>
                <a:ea typeface="Calibri"/>
                <a:cs typeface="Calibri"/>
              </a:rPr>
              <a:t>Text generation</a:t>
            </a:r>
          </a:p>
          <a:p>
            <a:pPr marL="685800" lvl="2" indent="-228600">
              <a:buFont typeface="Wingdings"/>
              <a:buChar char="§"/>
            </a:pPr>
            <a:r>
              <a:rPr lang="en-US" dirty="0">
                <a:latin typeface="Calibri"/>
                <a:ea typeface="Calibri"/>
                <a:cs typeface="Calibri"/>
              </a:rPr>
              <a:t>Numerical embeddings</a:t>
            </a:r>
          </a:p>
          <a:p>
            <a:pPr marL="685800" lvl="2" indent="-228600">
              <a:buFont typeface="Wingdings"/>
              <a:buChar char="§"/>
            </a:pPr>
            <a:r>
              <a:rPr lang="en-US" dirty="0">
                <a:latin typeface="Calibri"/>
                <a:ea typeface="Calibri"/>
                <a:cs typeface="Calibri"/>
              </a:rPr>
              <a:t>Text classification</a:t>
            </a:r>
          </a:p>
          <a:p>
            <a:pPr marL="228600" indent="-228600">
              <a:buFont typeface=""/>
              <a:buChar char="•"/>
            </a:pPr>
            <a:r>
              <a:rPr lang="en-US" dirty="0">
                <a:latin typeface="Calibri"/>
                <a:ea typeface="Calibri"/>
                <a:cs typeface="Calibri"/>
              </a:rPr>
              <a:t>Many AI applications rely on transforming language into usable computational forms</a:t>
            </a:r>
          </a:p>
          <a:p>
            <a:pPr algn="ctr"/>
            <a:endParaRPr lang="en-US"/>
          </a:p>
        </p:txBody>
      </p:sp>
    </p:spTree>
    <p:extLst>
      <p:ext uri="{BB962C8B-B14F-4D97-AF65-F5344CB8AC3E}">
        <p14:creationId xmlns:p14="http://schemas.microsoft.com/office/powerpoint/2010/main" val="370824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79383-57C6-6939-6E16-CBF54DAF9272}"/>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339FB44B-B4FC-A33D-C0E5-622498328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6C074604-AF7F-D734-CFAC-AD36868AB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507F8FA1-6911-9309-7915-237499AA7AF5}"/>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a:solidFill>
                  <a:schemeClr val="bg2">
                    <a:lumMod val="25000"/>
                  </a:schemeClr>
                </a:solidFill>
                <a:latin typeface="+mn-lt"/>
              </a:rPr>
              <a:t>Language  Models - </a:t>
            </a:r>
            <a:r>
              <a:rPr lang="it-IT" sz="4000" b="1" dirty="0" err="1">
                <a:solidFill>
                  <a:schemeClr val="bg2">
                    <a:lumMod val="25000"/>
                  </a:schemeClr>
                </a:solidFill>
                <a:latin typeface="+mn-lt"/>
              </a:rPr>
              <a:t>Bag</a:t>
            </a:r>
            <a:r>
              <a:rPr lang="it-IT" sz="4000" b="1" dirty="0">
                <a:solidFill>
                  <a:schemeClr val="bg2">
                    <a:lumMod val="25000"/>
                  </a:schemeClr>
                </a:solidFill>
                <a:latin typeface="+mn-lt"/>
              </a:rPr>
              <a:t> of Words</a:t>
            </a:r>
            <a:endParaRPr lang="en-US" dirty="0">
              <a:solidFill>
                <a:schemeClr val="bg2">
                  <a:lumMod val="25000"/>
                </a:schemeClr>
              </a:solidFill>
            </a:endParaRPr>
          </a:p>
        </p:txBody>
      </p:sp>
      <p:pic>
        <p:nvPicPr>
          <p:cNvPr id="4" name="Picture 3" descr="A screenshot of a computer&#10;&#10;AI-generated content may be incorrect.">
            <a:extLst>
              <a:ext uri="{FF2B5EF4-FFF2-40B4-BE49-F238E27FC236}">
                <a16:creationId xmlns:a16="http://schemas.microsoft.com/office/drawing/2014/main" id="{B7FD01F4-B8D6-2166-706E-E40CC4A5E22B}"/>
              </a:ext>
            </a:extLst>
          </p:cNvPr>
          <p:cNvPicPr>
            <a:picLocks noChangeAspect="1"/>
          </p:cNvPicPr>
          <p:nvPr/>
        </p:nvPicPr>
        <p:blipFill>
          <a:blip r:embed="rId5"/>
          <a:stretch>
            <a:fillRect/>
          </a:stretch>
        </p:blipFill>
        <p:spPr>
          <a:xfrm>
            <a:off x="776287" y="990870"/>
            <a:ext cx="10639425" cy="4962525"/>
          </a:xfrm>
          <a:prstGeom prst="rect">
            <a:avLst/>
          </a:prstGeom>
        </p:spPr>
      </p:pic>
    </p:spTree>
    <p:extLst>
      <p:ext uri="{BB962C8B-B14F-4D97-AF65-F5344CB8AC3E}">
        <p14:creationId xmlns:p14="http://schemas.microsoft.com/office/powerpoint/2010/main" val="1676310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F8A0-4498-5B24-78F7-4666C48CBE97}"/>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AF5718B7-DE7C-33A5-90CA-B84684B6A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46661EB1-60D9-65C8-6C67-00801B2AB9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80CA3F98-E971-C859-E651-305C50F52280}"/>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err="1">
                <a:solidFill>
                  <a:schemeClr val="bg2">
                    <a:lumMod val="25000"/>
                  </a:schemeClr>
                </a:solidFill>
                <a:latin typeface="+mn-lt"/>
              </a:rPr>
              <a:t>Vector</a:t>
            </a:r>
            <a:r>
              <a:rPr lang="it-IT" sz="4000" b="1" dirty="0">
                <a:solidFill>
                  <a:schemeClr val="bg2">
                    <a:lumMod val="25000"/>
                  </a:schemeClr>
                </a:solidFill>
                <a:latin typeface="+mn-lt"/>
              </a:rPr>
              <a:t> </a:t>
            </a:r>
            <a:r>
              <a:rPr lang="it-IT" sz="4000" b="1" dirty="0" err="1">
                <a:solidFill>
                  <a:schemeClr val="bg2">
                    <a:lumMod val="25000"/>
                  </a:schemeClr>
                </a:solidFill>
                <a:latin typeface="+mn-lt"/>
              </a:rPr>
              <a:t>Embeddings</a:t>
            </a:r>
            <a:endParaRPr lang="en-US" dirty="0" err="1">
              <a:solidFill>
                <a:schemeClr val="bg2">
                  <a:lumMod val="25000"/>
                </a:schemeClr>
              </a:solidFill>
            </a:endParaRPr>
          </a:p>
        </p:txBody>
      </p:sp>
      <p:pic>
        <p:nvPicPr>
          <p:cNvPr id="2" name="Picture 1" descr="A diagram of a network&#10;&#10;AI-generated content may be incorrect.">
            <a:extLst>
              <a:ext uri="{FF2B5EF4-FFF2-40B4-BE49-F238E27FC236}">
                <a16:creationId xmlns:a16="http://schemas.microsoft.com/office/drawing/2014/main" id="{BA14F355-49CD-264C-9F43-C0D502DB8323}"/>
              </a:ext>
            </a:extLst>
          </p:cNvPr>
          <p:cNvPicPr>
            <a:picLocks noChangeAspect="1"/>
          </p:cNvPicPr>
          <p:nvPr/>
        </p:nvPicPr>
        <p:blipFill>
          <a:blip r:embed="rId5"/>
          <a:stretch>
            <a:fillRect/>
          </a:stretch>
        </p:blipFill>
        <p:spPr>
          <a:xfrm>
            <a:off x="490538" y="1144438"/>
            <a:ext cx="11210925" cy="5029200"/>
          </a:xfrm>
          <a:prstGeom prst="rect">
            <a:avLst/>
          </a:prstGeom>
        </p:spPr>
      </p:pic>
    </p:spTree>
    <p:extLst>
      <p:ext uri="{BB962C8B-B14F-4D97-AF65-F5344CB8AC3E}">
        <p14:creationId xmlns:p14="http://schemas.microsoft.com/office/powerpoint/2010/main" val="56104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4BAE1-E9CD-7B6F-396D-11BFC288A64B}"/>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C385925C-CF40-4E3F-F451-6A007E4D8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CC819700-6371-291E-9AD8-38A974E4B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3E548F61-4457-20C3-0612-E688E4348357}"/>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a:solidFill>
                  <a:schemeClr val="bg2">
                    <a:lumMod val="25000"/>
                  </a:schemeClr>
                </a:solidFill>
                <a:latin typeface="+mn-lt"/>
              </a:rPr>
              <a:t>Word2Vec Training</a:t>
            </a:r>
            <a:endParaRPr lang="en-US" dirty="0"/>
          </a:p>
        </p:txBody>
      </p:sp>
      <p:pic>
        <p:nvPicPr>
          <p:cNvPr id="2" name="Picture 1" descr="A close-up of a sign&#10;&#10;AI-generated content may be incorrect.">
            <a:extLst>
              <a:ext uri="{FF2B5EF4-FFF2-40B4-BE49-F238E27FC236}">
                <a16:creationId xmlns:a16="http://schemas.microsoft.com/office/drawing/2014/main" id="{BB00DD59-0517-A775-3984-9325FB7C7036}"/>
              </a:ext>
            </a:extLst>
          </p:cNvPr>
          <p:cNvPicPr>
            <a:picLocks noChangeAspect="1"/>
          </p:cNvPicPr>
          <p:nvPr/>
        </p:nvPicPr>
        <p:blipFill>
          <a:blip r:embed="rId5"/>
          <a:stretch>
            <a:fillRect/>
          </a:stretch>
        </p:blipFill>
        <p:spPr>
          <a:xfrm>
            <a:off x="1442768" y="3906508"/>
            <a:ext cx="10744200" cy="2495550"/>
          </a:xfrm>
          <a:prstGeom prst="rect">
            <a:avLst/>
          </a:prstGeom>
        </p:spPr>
      </p:pic>
      <p:sp>
        <p:nvSpPr>
          <p:cNvPr id="3" name="TextBox 2">
            <a:extLst>
              <a:ext uri="{FF2B5EF4-FFF2-40B4-BE49-F238E27FC236}">
                <a16:creationId xmlns:a16="http://schemas.microsoft.com/office/drawing/2014/main" id="{BE41A036-C482-1248-3328-841745139A64}"/>
              </a:ext>
            </a:extLst>
          </p:cNvPr>
          <p:cNvSpPr txBox="1"/>
          <p:nvPr/>
        </p:nvSpPr>
        <p:spPr>
          <a:xfrm>
            <a:off x="1437736" y="1214887"/>
            <a:ext cx="1009290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ea typeface="Calibri"/>
                <a:cs typeface="Calibri"/>
              </a:rPr>
              <a:t>Word2Vec – How Embeddings Are Learned</a:t>
            </a:r>
          </a:p>
          <a:p>
            <a:pPr marL="228600" indent="-228600">
              <a:buFont typeface=""/>
              <a:buChar char="•"/>
            </a:pPr>
            <a:r>
              <a:rPr lang="en-US" sz="2400" dirty="0">
                <a:latin typeface="Calibri"/>
                <a:ea typeface="Calibri"/>
                <a:cs typeface="Calibri"/>
              </a:rPr>
              <a:t>Each word is initialized with a </a:t>
            </a:r>
            <a:r>
              <a:rPr lang="en-US" sz="2400" b="1" dirty="0">
                <a:latin typeface="Calibri"/>
                <a:ea typeface="Calibri"/>
                <a:cs typeface="Calibri"/>
              </a:rPr>
              <a:t>random vector embedding</a:t>
            </a:r>
          </a:p>
          <a:p>
            <a:pPr marL="228600" indent="-228600">
              <a:buFont typeface=""/>
              <a:buChar char="•"/>
            </a:pPr>
            <a:r>
              <a:rPr lang="en-US" sz="2400" dirty="0">
                <a:latin typeface="Calibri"/>
                <a:ea typeface="Calibri"/>
                <a:cs typeface="Calibri"/>
              </a:rPr>
              <a:t>The model is trained on </a:t>
            </a:r>
            <a:r>
              <a:rPr lang="en-US" sz="2400" b="1" dirty="0">
                <a:latin typeface="Calibri"/>
                <a:ea typeface="Calibri"/>
                <a:cs typeface="Calibri"/>
              </a:rPr>
              <a:t>word pairs</a:t>
            </a:r>
            <a:r>
              <a:rPr lang="en-US" sz="2400" dirty="0">
                <a:latin typeface="Calibri"/>
                <a:ea typeface="Calibri"/>
                <a:cs typeface="Calibri"/>
              </a:rPr>
              <a:t> from real sentences</a:t>
            </a:r>
          </a:p>
          <a:p>
            <a:pPr marL="228600" indent="-228600">
              <a:buFont typeface=""/>
              <a:buChar char="•"/>
            </a:pPr>
            <a:r>
              <a:rPr lang="en-US" sz="2400" dirty="0">
                <a:latin typeface="Calibri"/>
                <a:ea typeface="Calibri"/>
                <a:cs typeface="Calibri"/>
              </a:rPr>
              <a:t>It learns to predict whether two words are </a:t>
            </a:r>
            <a:r>
              <a:rPr lang="en-US" sz="2400" b="1" dirty="0">
                <a:latin typeface="Calibri"/>
                <a:ea typeface="Calibri"/>
                <a:cs typeface="Calibri"/>
              </a:rPr>
              <a:t>likely neighbors</a:t>
            </a:r>
          </a:p>
          <a:p>
            <a:pPr marL="228600" indent="-228600">
              <a:buFont typeface=""/>
              <a:buChar char="•"/>
            </a:pPr>
            <a:r>
              <a:rPr lang="en-US" sz="2400" dirty="0">
                <a:latin typeface="Calibri"/>
                <a:ea typeface="Calibri"/>
                <a:cs typeface="Calibri"/>
              </a:rPr>
              <a:t>Words appearing in </a:t>
            </a:r>
            <a:r>
              <a:rPr lang="en-US" sz="2400" b="1" dirty="0">
                <a:latin typeface="Calibri"/>
                <a:ea typeface="Calibri"/>
                <a:cs typeface="Calibri"/>
              </a:rPr>
              <a:t>similar contexts</a:t>
            </a:r>
            <a:r>
              <a:rPr lang="en-US" sz="2400" dirty="0">
                <a:latin typeface="Calibri"/>
                <a:ea typeface="Calibri"/>
                <a:cs typeface="Calibri"/>
              </a:rPr>
              <a:t> become closer in vector space</a:t>
            </a:r>
          </a:p>
          <a:p>
            <a:pPr marL="228600" indent="-228600">
              <a:buFont typeface=""/>
              <a:buChar char="•"/>
            </a:pPr>
            <a:r>
              <a:rPr lang="en-US" sz="2400" dirty="0">
                <a:latin typeface="Calibri"/>
                <a:ea typeface="Calibri"/>
                <a:cs typeface="Calibri"/>
              </a:rPr>
              <a:t>Final embeddings encode </a:t>
            </a:r>
            <a:r>
              <a:rPr lang="en-US" sz="2400" b="1" dirty="0">
                <a:latin typeface="Calibri"/>
                <a:ea typeface="Calibri"/>
                <a:cs typeface="Calibri"/>
              </a:rPr>
              <a:t>semantic relationships between words</a:t>
            </a:r>
          </a:p>
          <a:p>
            <a:pPr algn="ctr"/>
            <a:endParaRPr lang="en-US" sz="2400" dirty="0">
              <a:ea typeface="Calibri"/>
              <a:cs typeface="Calibri"/>
            </a:endParaRPr>
          </a:p>
        </p:txBody>
      </p:sp>
    </p:spTree>
    <p:extLst>
      <p:ext uri="{BB962C8B-B14F-4D97-AF65-F5344CB8AC3E}">
        <p14:creationId xmlns:p14="http://schemas.microsoft.com/office/powerpoint/2010/main" val="2629849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A450-E0F7-2A04-B3D7-C1A2C39DBE0C}"/>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91D7B525-96C6-759C-1920-F9D4CDF0B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4CF3F031-442F-0C1F-243C-7B6C264CEC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47AC5965-92F9-906E-C9E9-6ADAF693A84A}"/>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a:solidFill>
                  <a:schemeClr val="bg2">
                    <a:lumMod val="25000"/>
                  </a:schemeClr>
                </a:solidFill>
                <a:latin typeface="+mn-lt"/>
              </a:rPr>
              <a:t>Word2Vec </a:t>
            </a:r>
            <a:r>
              <a:rPr lang="it-IT" sz="4000" b="1" dirty="0" err="1">
                <a:solidFill>
                  <a:schemeClr val="bg2">
                    <a:lumMod val="25000"/>
                  </a:schemeClr>
                </a:solidFill>
                <a:latin typeface="+mn-lt"/>
              </a:rPr>
              <a:t>Example</a:t>
            </a:r>
            <a:endParaRPr lang="en-US" dirty="0" err="1"/>
          </a:p>
        </p:txBody>
      </p:sp>
      <p:pic>
        <p:nvPicPr>
          <p:cNvPr id="2" name="Picture 1" descr="A group of numbers in squares&#10;&#10;AI-generated content may be incorrect.">
            <a:extLst>
              <a:ext uri="{FF2B5EF4-FFF2-40B4-BE49-F238E27FC236}">
                <a16:creationId xmlns:a16="http://schemas.microsoft.com/office/drawing/2014/main" id="{6F0CCC69-9300-2CC6-A827-4394C750E3D1}"/>
              </a:ext>
            </a:extLst>
          </p:cNvPr>
          <p:cNvPicPr>
            <a:picLocks noChangeAspect="1"/>
          </p:cNvPicPr>
          <p:nvPr/>
        </p:nvPicPr>
        <p:blipFill>
          <a:blip r:embed="rId5"/>
          <a:stretch>
            <a:fillRect/>
          </a:stretch>
        </p:blipFill>
        <p:spPr>
          <a:xfrm>
            <a:off x="738188" y="942975"/>
            <a:ext cx="10715625" cy="4972050"/>
          </a:xfrm>
          <a:prstGeom prst="rect">
            <a:avLst/>
          </a:prstGeom>
        </p:spPr>
      </p:pic>
    </p:spTree>
    <p:extLst>
      <p:ext uri="{BB962C8B-B14F-4D97-AF65-F5344CB8AC3E}">
        <p14:creationId xmlns:p14="http://schemas.microsoft.com/office/powerpoint/2010/main" val="4250157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6C584-DD21-56FF-4EF8-28545FBE32DC}"/>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FFA9D38F-2197-7859-BE5C-F3DAFAA3E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A6B57CA0-AB55-46B8-2100-65560BFBA0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F861F172-EF84-1C36-44C5-8B642D9EA575}"/>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a:solidFill>
                  <a:schemeClr val="bg2">
                    <a:lumMod val="25000"/>
                  </a:schemeClr>
                </a:solidFill>
                <a:latin typeface="+mn-lt"/>
              </a:rPr>
              <a:t>Word2Vec - </a:t>
            </a:r>
            <a:r>
              <a:rPr lang="it-IT" sz="4000" b="1" dirty="0" err="1">
                <a:solidFill>
                  <a:schemeClr val="bg2">
                    <a:lumMod val="25000"/>
                  </a:schemeClr>
                </a:solidFill>
                <a:latin typeface="+mn-lt"/>
              </a:rPr>
              <a:t>Visualization</a:t>
            </a:r>
            <a:endParaRPr lang="en-US" dirty="0" err="1"/>
          </a:p>
        </p:txBody>
      </p:sp>
      <p:pic>
        <p:nvPicPr>
          <p:cNvPr id="2" name="Picture 1" descr="A grid with colored dots and words&#10;&#10;AI-generated content may be incorrect.">
            <a:extLst>
              <a:ext uri="{FF2B5EF4-FFF2-40B4-BE49-F238E27FC236}">
                <a16:creationId xmlns:a16="http://schemas.microsoft.com/office/drawing/2014/main" id="{F0B9F184-1A27-56AD-4FF2-131627D04600}"/>
              </a:ext>
            </a:extLst>
          </p:cNvPr>
          <p:cNvPicPr>
            <a:picLocks noChangeAspect="1"/>
          </p:cNvPicPr>
          <p:nvPr/>
        </p:nvPicPr>
        <p:blipFill>
          <a:blip r:embed="rId5"/>
          <a:stretch>
            <a:fillRect/>
          </a:stretch>
        </p:blipFill>
        <p:spPr>
          <a:xfrm>
            <a:off x="4178598" y="1470983"/>
            <a:ext cx="8018612" cy="4649279"/>
          </a:xfrm>
          <a:prstGeom prst="rect">
            <a:avLst/>
          </a:prstGeom>
        </p:spPr>
      </p:pic>
      <p:sp>
        <p:nvSpPr>
          <p:cNvPr id="3" name="TextBox 2">
            <a:extLst>
              <a:ext uri="{FF2B5EF4-FFF2-40B4-BE49-F238E27FC236}">
                <a16:creationId xmlns:a16="http://schemas.microsoft.com/office/drawing/2014/main" id="{0A5ADD31-3232-1247-16BA-E52BEC70E63F}"/>
              </a:ext>
            </a:extLst>
          </p:cNvPr>
          <p:cNvSpPr txBox="1"/>
          <p:nvPr/>
        </p:nvSpPr>
        <p:spPr>
          <a:xfrm>
            <a:off x="215661" y="2508850"/>
            <a:ext cx="396815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Comparing Word Embeddings</a:t>
            </a:r>
          </a:p>
          <a:p>
            <a:pPr marL="228600" indent="-228600">
              <a:buFont typeface=""/>
              <a:buChar char="•"/>
            </a:pPr>
            <a:r>
              <a:rPr lang="en-US"/>
              <a:t>Embeddings enable </a:t>
            </a:r>
            <a:r>
              <a:rPr lang="en-US" b="1"/>
              <a:t>quantitative comparison</a:t>
            </a:r>
            <a:r>
              <a:rPr lang="en-US"/>
              <a:t> between words</a:t>
            </a:r>
          </a:p>
          <a:p>
            <a:pPr marL="228600" indent="-228600">
              <a:buFont typeface=""/>
              <a:buChar char="•"/>
            </a:pPr>
            <a:r>
              <a:rPr lang="en-US"/>
              <a:t>Words with </a:t>
            </a:r>
            <a:r>
              <a:rPr lang="en-US" b="1"/>
              <a:t>similar meanings cluster together</a:t>
            </a:r>
            <a:r>
              <a:rPr lang="en-US"/>
              <a:t> in vector space</a:t>
            </a:r>
          </a:p>
          <a:p>
            <a:pPr marL="228600" indent="-228600">
              <a:buFont typeface=""/>
              <a:buChar char="•"/>
            </a:pPr>
            <a:r>
              <a:rPr lang="en-US"/>
              <a:t>Dissimilar words are </a:t>
            </a:r>
            <a:r>
              <a:rPr lang="en-US" b="1"/>
              <a:t>farther apart</a:t>
            </a:r>
          </a:p>
          <a:p>
            <a:pPr marL="228600" indent="-228600">
              <a:buFont typeface=""/>
              <a:buChar char="•"/>
            </a:pPr>
            <a:r>
              <a:rPr lang="en-US"/>
              <a:t>Similarity relationships depend on the </a:t>
            </a:r>
            <a:r>
              <a:rPr lang="en-US" b="1"/>
              <a:t>training data used</a:t>
            </a:r>
          </a:p>
          <a:p>
            <a:pPr algn="ctr"/>
            <a:endParaRPr lang="en-US"/>
          </a:p>
        </p:txBody>
      </p:sp>
    </p:spTree>
    <p:extLst>
      <p:ext uri="{BB962C8B-B14F-4D97-AF65-F5344CB8AC3E}">
        <p14:creationId xmlns:p14="http://schemas.microsoft.com/office/powerpoint/2010/main" val="1294601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35A5-CEF2-D635-AE45-B82664701DCC}"/>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6A44B9A2-6DE0-7D2C-BE31-E387E3916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20081931-0AC0-413E-E933-B6575773A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EE606C51-7C88-E431-B423-C573E700E013}"/>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dirty="0">
                <a:solidFill>
                  <a:schemeClr val="bg2">
                    <a:lumMod val="25000"/>
                  </a:schemeClr>
                </a:solidFill>
                <a:latin typeface="+mn-lt"/>
              </a:rPr>
              <a:t>Word </a:t>
            </a:r>
            <a:r>
              <a:rPr lang="it-IT" sz="4000" b="1" dirty="0" err="1">
                <a:solidFill>
                  <a:schemeClr val="bg2">
                    <a:lumMod val="25000"/>
                  </a:schemeClr>
                </a:solidFill>
                <a:latin typeface="+mn-lt"/>
              </a:rPr>
              <a:t>Embeddings</a:t>
            </a:r>
            <a:endParaRPr lang="en-US" dirty="0" err="1"/>
          </a:p>
        </p:txBody>
      </p:sp>
      <p:pic>
        <p:nvPicPr>
          <p:cNvPr id="2" name="Picture 1" descr="A diagram of a model&#10;&#10;AI-generated content may be incorrect.">
            <a:extLst>
              <a:ext uri="{FF2B5EF4-FFF2-40B4-BE49-F238E27FC236}">
                <a16:creationId xmlns:a16="http://schemas.microsoft.com/office/drawing/2014/main" id="{A2D181EF-F903-990C-1387-F762A71E6B93}"/>
              </a:ext>
            </a:extLst>
          </p:cNvPr>
          <p:cNvPicPr>
            <a:picLocks noChangeAspect="1"/>
          </p:cNvPicPr>
          <p:nvPr/>
        </p:nvPicPr>
        <p:blipFill>
          <a:blip r:embed="rId5"/>
          <a:stretch>
            <a:fillRect/>
          </a:stretch>
        </p:blipFill>
        <p:spPr>
          <a:xfrm>
            <a:off x="5680584" y="1025645"/>
            <a:ext cx="6509889" cy="4375390"/>
          </a:xfrm>
          <a:prstGeom prst="rect">
            <a:avLst/>
          </a:prstGeom>
        </p:spPr>
      </p:pic>
      <p:sp>
        <p:nvSpPr>
          <p:cNvPr id="3" name="TextBox 2">
            <a:extLst>
              <a:ext uri="{FF2B5EF4-FFF2-40B4-BE49-F238E27FC236}">
                <a16:creationId xmlns:a16="http://schemas.microsoft.com/office/drawing/2014/main" id="{062F74DE-CC2B-787E-EDCB-3C2C6B62869F}"/>
              </a:ext>
            </a:extLst>
          </p:cNvPr>
          <p:cNvSpPr txBox="1"/>
          <p:nvPr/>
        </p:nvSpPr>
        <p:spPr>
          <a:xfrm>
            <a:off x="244415" y="1229264"/>
            <a:ext cx="544901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Calibri"/>
                <a:ea typeface="Calibri"/>
                <a:cs typeface="Calibri"/>
              </a:rPr>
              <a:t>Representation Models and Tokenization</a:t>
            </a:r>
          </a:p>
          <a:p>
            <a:pPr marL="228600" indent="-228600">
              <a:buFont typeface=""/>
              <a:buChar char="•"/>
            </a:pPr>
            <a:r>
              <a:rPr lang="en-US" dirty="0">
                <a:latin typeface="Calibri"/>
                <a:ea typeface="Calibri"/>
                <a:cs typeface="Calibri"/>
              </a:rPr>
              <a:t>There are many types of embeddings beyond word embeddings</a:t>
            </a:r>
          </a:p>
          <a:p>
            <a:pPr marL="228600" indent="-228600">
              <a:buFont typeface=""/>
              <a:buChar char="•"/>
            </a:pPr>
            <a:r>
              <a:rPr lang="en-US" dirty="0">
                <a:latin typeface="Calibri"/>
                <a:ea typeface="Calibri"/>
                <a:cs typeface="Calibri"/>
              </a:rPr>
              <a:t>Models like </a:t>
            </a:r>
            <a:r>
              <a:rPr lang="en-US" b="1" dirty="0">
                <a:latin typeface="Calibri"/>
                <a:ea typeface="Calibri"/>
                <a:cs typeface="Calibri"/>
              </a:rPr>
              <a:t>Word2Vec</a:t>
            </a:r>
            <a:r>
              <a:rPr lang="en-US" dirty="0">
                <a:latin typeface="Calibri"/>
                <a:ea typeface="Calibri"/>
                <a:cs typeface="Calibri"/>
              </a:rPr>
              <a:t> are called </a:t>
            </a:r>
            <a:r>
              <a:rPr lang="en-US" b="1" dirty="0">
                <a:latin typeface="Calibri"/>
                <a:ea typeface="Calibri"/>
                <a:cs typeface="Calibri"/>
              </a:rPr>
              <a:t>representation models</a:t>
            </a:r>
            <a:r>
              <a:rPr lang="en-US" dirty="0">
                <a:latin typeface="Calibri"/>
                <a:ea typeface="Calibri"/>
                <a:cs typeface="Calibri"/>
              </a:rPr>
              <a:t> because they convert text into numerical values</a:t>
            </a:r>
          </a:p>
          <a:p>
            <a:pPr marL="228600" indent="-228600">
              <a:buFont typeface=""/>
              <a:buChar char="•"/>
            </a:pPr>
            <a:r>
              <a:rPr lang="en-US" dirty="0">
                <a:latin typeface="Calibri"/>
                <a:ea typeface="Calibri"/>
                <a:cs typeface="Calibri"/>
              </a:rPr>
              <a:t>Text is first </a:t>
            </a:r>
            <a:r>
              <a:rPr lang="en-US" b="1" dirty="0">
                <a:latin typeface="Calibri"/>
                <a:ea typeface="Calibri"/>
                <a:cs typeface="Calibri"/>
              </a:rPr>
              <a:t>tokenized</a:t>
            </a:r>
            <a:r>
              <a:rPr lang="en-US" dirty="0">
                <a:latin typeface="Calibri"/>
                <a:ea typeface="Calibri"/>
                <a:cs typeface="Calibri"/>
              </a:rPr>
              <a:t> into smaller units (tokens)</a:t>
            </a:r>
          </a:p>
          <a:p>
            <a:pPr marL="228600" indent="-228600">
              <a:buFont typeface=""/>
              <a:buChar char="•"/>
            </a:pPr>
            <a:r>
              <a:rPr lang="en-US" dirty="0">
                <a:latin typeface="Calibri"/>
                <a:ea typeface="Calibri"/>
                <a:cs typeface="Calibri"/>
              </a:rPr>
              <a:t>Tokenization is not always whitespace-based; words can be split into </a:t>
            </a:r>
            <a:r>
              <a:rPr lang="en-US" b="1" dirty="0" err="1">
                <a:latin typeface="Calibri"/>
                <a:ea typeface="Calibri"/>
                <a:cs typeface="Calibri"/>
              </a:rPr>
              <a:t>subword</a:t>
            </a:r>
            <a:r>
              <a:rPr lang="en-US" b="1" dirty="0">
                <a:latin typeface="Calibri"/>
                <a:ea typeface="Calibri"/>
                <a:cs typeface="Calibri"/>
              </a:rPr>
              <a:t> tokens</a:t>
            </a:r>
            <a:r>
              <a:rPr lang="en-US" dirty="0">
                <a:latin typeface="Calibri"/>
                <a:ea typeface="Calibri"/>
                <a:cs typeface="Calibri"/>
              </a:rPr>
              <a:t> (e.g., </a:t>
            </a:r>
            <a:r>
              <a:rPr lang="en-US" i="1" dirty="0">
                <a:latin typeface="Calibri"/>
                <a:ea typeface="Calibri"/>
                <a:cs typeface="Calibri"/>
              </a:rPr>
              <a:t>vocal</a:t>
            </a:r>
            <a:r>
              <a:rPr lang="en-US" dirty="0">
                <a:latin typeface="Calibri"/>
                <a:ea typeface="Calibri"/>
                <a:cs typeface="Calibri"/>
              </a:rPr>
              <a:t> + </a:t>
            </a:r>
            <a:r>
              <a:rPr lang="en-US" i="1" dirty="0" err="1">
                <a:latin typeface="Calibri"/>
                <a:ea typeface="Calibri"/>
                <a:cs typeface="Calibri"/>
              </a:rPr>
              <a:t>ization</a:t>
            </a:r>
            <a:r>
              <a:rPr lang="en-US" dirty="0">
                <a:latin typeface="Calibri"/>
                <a:ea typeface="Calibri"/>
                <a:cs typeface="Calibri"/>
              </a:rPr>
              <a:t>)</a:t>
            </a:r>
          </a:p>
          <a:p>
            <a:pPr marL="228600" indent="-228600">
              <a:buFont typeface=""/>
              <a:buChar char="•"/>
            </a:pPr>
            <a:r>
              <a:rPr lang="en-US" dirty="0">
                <a:latin typeface="Calibri"/>
                <a:ea typeface="Calibri"/>
                <a:cs typeface="Calibri"/>
              </a:rPr>
              <a:t>Tokenizers use a </a:t>
            </a:r>
            <a:r>
              <a:rPr lang="en-US" b="1" dirty="0">
                <a:latin typeface="Calibri"/>
                <a:ea typeface="Calibri"/>
                <a:cs typeface="Calibri"/>
              </a:rPr>
              <a:t>fixed vocabulary</a:t>
            </a:r>
            <a:r>
              <a:rPr lang="en-US" dirty="0">
                <a:latin typeface="Calibri"/>
                <a:ea typeface="Calibri"/>
                <a:cs typeface="Calibri"/>
              </a:rPr>
              <a:t>, so unseen words are decomposed into known </a:t>
            </a:r>
            <a:r>
              <a:rPr lang="en-US" dirty="0" err="1">
                <a:latin typeface="Calibri"/>
                <a:ea typeface="Calibri"/>
                <a:cs typeface="Calibri"/>
              </a:rPr>
              <a:t>subword</a:t>
            </a:r>
            <a:r>
              <a:rPr lang="en-US" dirty="0">
                <a:latin typeface="Calibri"/>
                <a:ea typeface="Calibri"/>
                <a:cs typeface="Calibri"/>
              </a:rPr>
              <a:t> units</a:t>
            </a:r>
          </a:p>
          <a:p>
            <a:pPr marL="228600" indent="-228600">
              <a:buFont typeface=""/>
              <a:buChar char="•"/>
            </a:pPr>
            <a:r>
              <a:rPr lang="en-US" dirty="0">
                <a:latin typeface="Calibri"/>
                <a:ea typeface="Calibri"/>
                <a:cs typeface="Calibri"/>
              </a:rPr>
              <a:t>The model generates </a:t>
            </a:r>
            <a:r>
              <a:rPr lang="en-US" b="1" dirty="0">
                <a:latin typeface="Calibri"/>
                <a:ea typeface="Calibri"/>
                <a:cs typeface="Calibri"/>
              </a:rPr>
              <a:t>embeddings for each token</a:t>
            </a:r>
          </a:p>
          <a:p>
            <a:pPr marL="228600" indent="-228600">
              <a:buFont typeface=""/>
              <a:buChar char="•"/>
            </a:pPr>
            <a:r>
              <a:rPr lang="en-US" dirty="0">
                <a:latin typeface="Calibri"/>
                <a:ea typeface="Calibri"/>
                <a:cs typeface="Calibri"/>
              </a:rPr>
              <a:t>Word embeddings can be obtained by </a:t>
            </a:r>
            <a:r>
              <a:rPr lang="en-US" b="1" dirty="0">
                <a:latin typeface="Calibri"/>
                <a:ea typeface="Calibri"/>
                <a:cs typeface="Calibri"/>
              </a:rPr>
              <a:t>combining (e.g., averaging) token embeddings</a:t>
            </a:r>
          </a:p>
          <a:p>
            <a:pPr algn="ctr"/>
            <a:endParaRPr lang="en-US"/>
          </a:p>
        </p:txBody>
      </p:sp>
    </p:spTree>
    <p:extLst>
      <p:ext uri="{BB962C8B-B14F-4D97-AF65-F5344CB8AC3E}">
        <p14:creationId xmlns:p14="http://schemas.microsoft.com/office/powerpoint/2010/main" val="390604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AC3D-CCD9-1478-220E-F1703362361D}"/>
            </a:ext>
          </a:extLst>
        </p:cNvPr>
        <p:cNvGrpSpPr/>
        <p:nvPr/>
      </p:nvGrpSpPr>
      <p:grpSpPr>
        <a:xfrm>
          <a:off x="0" y="0"/>
          <a:ext cx="0" cy="0"/>
          <a:chOff x="0" y="0"/>
          <a:chExt cx="0" cy="0"/>
        </a:xfrm>
      </p:grpSpPr>
      <p:pic>
        <p:nvPicPr>
          <p:cNvPr id="3073" name="Immagine 4">
            <a:extLst>
              <a:ext uri="{FF2B5EF4-FFF2-40B4-BE49-F238E27FC236}">
                <a16:creationId xmlns:a16="http://schemas.microsoft.com/office/drawing/2014/main" id="{10E4DFD9-2B21-0932-5C91-5FAFD4CA7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5956300"/>
            <a:ext cx="196215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Immagine 6">
            <a:extLst>
              <a:ext uri="{FF2B5EF4-FFF2-40B4-BE49-F238E27FC236}">
                <a16:creationId xmlns:a16="http://schemas.microsoft.com/office/drawing/2014/main" id="{6C9D7643-C348-73B9-FDFB-30B9F6A170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7">
            <a:extLst>
              <a:ext uri="{FF2B5EF4-FFF2-40B4-BE49-F238E27FC236}">
                <a16:creationId xmlns:a16="http://schemas.microsoft.com/office/drawing/2014/main" id="{C8378A2F-3E23-A185-5FFA-5A6CF7964758}"/>
              </a:ext>
            </a:extLst>
          </p:cNvPr>
          <p:cNvSpPr/>
          <p:nvPr/>
        </p:nvSpPr>
        <p:spPr>
          <a:xfrm>
            <a:off x="247650" y="147638"/>
            <a:ext cx="10911595" cy="707886"/>
          </a:xfrm>
          <a:prstGeom prst="rect">
            <a:avLst/>
          </a:prstGeom>
        </p:spPr>
        <p:txBody>
          <a:bodyPr wrap="square" lIns="91440" tIns="45720" rIns="91440" bIns="45720" anchor="t">
            <a:spAutoFit/>
          </a:bodyPr>
          <a:lstStyle/>
          <a:p>
            <a:pPr>
              <a:spcBef>
                <a:spcPts val="0"/>
              </a:spcBef>
              <a:spcAft>
                <a:spcPts val="0"/>
              </a:spcAft>
              <a:defRPr/>
            </a:pPr>
            <a:r>
              <a:rPr lang="it-IT" sz="4000" b="1" err="1">
                <a:solidFill>
                  <a:schemeClr val="bg2">
                    <a:lumMod val="25000"/>
                  </a:schemeClr>
                </a:solidFill>
                <a:latin typeface="+mn-lt"/>
              </a:rPr>
              <a:t>Sentence</a:t>
            </a:r>
            <a:r>
              <a:rPr lang="it-IT" sz="4000" b="1">
                <a:solidFill>
                  <a:schemeClr val="bg2">
                    <a:lumMod val="25000"/>
                  </a:schemeClr>
                </a:solidFill>
                <a:latin typeface="+mn-lt"/>
              </a:rPr>
              <a:t> and </a:t>
            </a:r>
            <a:r>
              <a:rPr lang="it-IT" sz="4000" b="1" err="1">
                <a:solidFill>
                  <a:schemeClr val="bg2">
                    <a:lumMod val="25000"/>
                  </a:schemeClr>
                </a:solidFill>
                <a:latin typeface="+mn-lt"/>
              </a:rPr>
              <a:t>Documents</a:t>
            </a:r>
            <a:r>
              <a:rPr lang="it-IT" sz="4000" b="1">
                <a:solidFill>
                  <a:schemeClr val="bg2">
                    <a:lumMod val="25000"/>
                  </a:schemeClr>
                </a:solidFill>
                <a:latin typeface="+mn-lt"/>
              </a:rPr>
              <a:t> </a:t>
            </a:r>
            <a:r>
              <a:rPr lang="it-IT" sz="4000" b="1" dirty="0">
                <a:solidFill>
                  <a:schemeClr val="bg2">
                    <a:lumMod val="25000"/>
                  </a:schemeClr>
                </a:solidFill>
                <a:latin typeface="+mn-lt"/>
              </a:rPr>
              <a:t>Embeddings</a:t>
            </a:r>
            <a:endParaRPr lang="en-US" dirty="0" err="1">
              <a:solidFill>
                <a:schemeClr val="bg2">
                  <a:lumMod val="25000"/>
                </a:schemeClr>
              </a:solidFill>
            </a:endParaRPr>
          </a:p>
        </p:txBody>
      </p:sp>
      <p:sp>
        <p:nvSpPr>
          <p:cNvPr id="2" name="TextBox 1">
            <a:extLst>
              <a:ext uri="{FF2B5EF4-FFF2-40B4-BE49-F238E27FC236}">
                <a16:creationId xmlns:a16="http://schemas.microsoft.com/office/drawing/2014/main" id="{843B4E73-4E58-455B-B76E-C310CF29D9D9}"/>
              </a:ext>
            </a:extLst>
          </p:cNvPr>
          <p:cNvSpPr txBox="1"/>
          <p:nvPr/>
        </p:nvSpPr>
        <p:spPr>
          <a:xfrm>
            <a:off x="249277" y="1329906"/>
            <a:ext cx="281267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Beyond Word Embeddings</a:t>
            </a:r>
          </a:p>
          <a:p>
            <a:pPr marL="228600" indent="-228600">
              <a:buFont typeface=""/>
              <a:buChar char="•"/>
            </a:pPr>
            <a:r>
              <a:rPr lang="en-US"/>
              <a:t>Embedding techniques extend to:</a:t>
            </a:r>
          </a:p>
          <a:p>
            <a:pPr marL="228600" lvl="1" indent="-228600">
              <a:buFont typeface=""/>
              <a:buChar char="•"/>
            </a:pPr>
            <a:r>
              <a:rPr lang="en-US" b="1"/>
              <a:t>Sentence embeddings</a:t>
            </a:r>
          </a:p>
          <a:p>
            <a:pPr marL="228600" lvl="1" indent="-228600">
              <a:buFont typeface=""/>
              <a:buChar char="•"/>
            </a:pPr>
            <a:r>
              <a:rPr lang="en-US" b="1"/>
              <a:t>Document embeddings</a:t>
            </a:r>
          </a:p>
          <a:p>
            <a:pPr marL="228600" indent="-228600">
              <a:buFont typeface=""/>
              <a:buChar char="•"/>
            </a:pPr>
            <a:r>
              <a:rPr lang="en-US"/>
              <a:t>Many different types of embeddings exist</a:t>
            </a:r>
          </a:p>
          <a:p>
            <a:pPr marL="228600" indent="-228600">
              <a:buFont typeface=""/>
              <a:buChar char="•"/>
            </a:pPr>
            <a:r>
              <a:rPr lang="en-US"/>
              <a:t>Next step: move from </a:t>
            </a:r>
            <a:r>
              <a:rPr lang="en-US" b="1"/>
              <a:t>static embeddings</a:t>
            </a:r>
            <a:r>
              <a:rPr lang="en-US"/>
              <a:t> to </a:t>
            </a:r>
            <a:r>
              <a:rPr lang="en-US" b="1"/>
              <a:t>contextualized encoding and decoding</a:t>
            </a:r>
          </a:p>
          <a:p>
            <a:pPr algn="ctr"/>
            <a:endParaRPr lang="en-US"/>
          </a:p>
        </p:txBody>
      </p:sp>
      <p:pic>
        <p:nvPicPr>
          <p:cNvPr id="3" name="Picture 2" descr="A diagram of a model&#10;&#10;AI-generated content may be incorrect.">
            <a:extLst>
              <a:ext uri="{FF2B5EF4-FFF2-40B4-BE49-F238E27FC236}">
                <a16:creationId xmlns:a16="http://schemas.microsoft.com/office/drawing/2014/main" id="{8AD644BF-7232-422D-6888-C1A46CA946C3}"/>
              </a:ext>
            </a:extLst>
          </p:cNvPr>
          <p:cNvPicPr>
            <a:picLocks noChangeAspect="1"/>
          </p:cNvPicPr>
          <p:nvPr/>
        </p:nvPicPr>
        <p:blipFill>
          <a:blip r:embed="rId5"/>
          <a:stretch>
            <a:fillRect/>
          </a:stretch>
        </p:blipFill>
        <p:spPr>
          <a:xfrm>
            <a:off x="3098997" y="1001833"/>
            <a:ext cx="9067800" cy="5400675"/>
          </a:xfrm>
          <a:prstGeom prst="rect">
            <a:avLst/>
          </a:prstGeom>
        </p:spPr>
      </p:pic>
    </p:spTree>
    <p:extLst>
      <p:ext uri="{BB962C8B-B14F-4D97-AF65-F5344CB8AC3E}">
        <p14:creationId xmlns:p14="http://schemas.microsoft.com/office/powerpoint/2010/main" val="4089532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Immagine 6">
            <a:extLst>
              <a:ext uri="{FF2B5EF4-FFF2-40B4-BE49-F238E27FC236}">
                <a16:creationId xmlns:a16="http://schemas.microsoft.com/office/drawing/2014/main" id="{13C7BAA4-A7EE-23B3-9A84-947E581AB4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84425"/>
            <a:ext cx="121920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 name="Immagine 3">
            <a:extLst>
              <a:ext uri="{FF2B5EF4-FFF2-40B4-BE49-F238E27FC236}">
                <a16:creationId xmlns:a16="http://schemas.microsoft.com/office/drawing/2014/main" id="{506AC89F-8C01-8270-A4EB-2C73E8988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25" y="338138"/>
            <a:ext cx="4248150"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ttangolo 1">
            <a:extLst>
              <a:ext uri="{FF2B5EF4-FFF2-40B4-BE49-F238E27FC236}">
                <a16:creationId xmlns:a16="http://schemas.microsoft.com/office/drawing/2014/main" id="{BA86C9DB-276E-B343-93B4-CF0F8AAB9FAA}"/>
              </a:ext>
            </a:extLst>
          </p:cNvPr>
          <p:cNvSpPr/>
          <p:nvPr/>
        </p:nvSpPr>
        <p:spPr>
          <a:xfrm>
            <a:off x="2802479" y="2997200"/>
            <a:ext cx="6244245" cy="707886"/>
          </a:xfrm>
          <a:prstGeom prst="rect">
            <a:avLst/>
          </a:prstGeom>
        </p:spPr>
        <p:txBody>
          <a:bodyPr wrap="square">
            <a:spAutoFit/>
          </a:bodyPr>
          <a:lstStyle/>
          <a:p>
            <a:pPr algn="ctr" eaLnBrk="1" fontAlgn="auto" hangingPunct="1">
              <a:spcBef>
                <a:spcPts val="0"/>
              </a:spcBef>
              <a:spcAft>
                <a:spcPts val="0"/>
              </a:spcAft>
              <a:defRPr/>
            </a:pPr>
            <a:r>
              <a:rPr lang="it-IT" sz="4000" b="1" dirty="0">
                <a:solidFill>
                  <a:schemeClr val="bg2">
                    <a:lumMod val="25000"/>
                  </a:schemeClr>
                </a:solidFill>
                <a:latin typeface="+mn-lt"/>
              </a:rPr>
              <a:t>Thank </a:t>
            </a:r>
            <a:r>
              <a:rPr lang="it-IT" sz="4000" b="1" dirty="0" err="1">
                <a:solidFill>
                  <a:schemeClr val="bg2">
                    <a:lumMod val="25000"/>
                  </a:schemeClr>
                </a:solidFill>
                <a:latin typeface="+mn-lt"/>
              </a:rPr>
              <a:t>you</a:t>
            </a:r>
            <a:r>
              <a:rPr lang="it-IT" sz="4000" b="1" dirty="0">
                <a:solidFill>
                  <a:schemeClr val="bg2">
                    <a:lumMod val="25000"/>
                  </a:schemeClr>
                </a:solidFill>
                <a:latin typeface="+mn-lt"/>
              </a:rPr>
              <a:t> for the </a:t>
            </a:r>
            <a:r>
              <a:rPr lang="it-IT" sz="4000" b="1" dirty="0" err="1">
                <a:solidFill>
                  <a:schemeClr val="bg2">
                    <a:lumMod val="25000"/>
                  </a:schemeClr>
                </a:solidFill>
                <a:latin typeface="+mn-lt"/>
              </a:rPr>
              <a:t>attention</a:t>
            </a:r>
            <a:endParaRPr lang="it-IT" sz="4000" b="1" dirty="0">
              <a:solidFill>
                <a:schemeClr val="bg2">
                  <a:lumMod val="25000"/>
                </a:schemeClr>
              </a:solidFill>
              <a:latin typeface="+mn-lt"/>
            </a:endParaRPr>
          </a:p>
        </p:txBody>
      </p:sp>
      <p:sp>
        <p:nvSpPr>
          <p:cNvPr id="6" name="Rettangolo 5">
            <a:extLst>
              <a:ext uri="{FF2B5EF4-FFF2-40B4-BE49-F238E27FC236}">
                <a16:creationId xmlns:a16="http://schemas.microsoft.com/office/drawing/2014/main" id="{DACEC17C-7993-8444-B375-1F210DB670D3}"/>
              </a:ext>
            </a:extLst>
          </p:cNvPr>
          <p:cNvSpPr/>
          <p:nvPr/>
        </p:nvSpPr>
        <p:spPr>
          <a:xfrm>
            <a:off x="704850" y="5202238"/>
            <a:ext cx="134938" cy="1655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noFill/>
            </a:endParaRPr>
          </a:p>
        </p:txBody>
      </p:sp>
      <p:sp>
        <p:nvSpPr>
          <p:cNvPr id="4" name="Rettangolo 3">
            <a:extLst>
              <a:ext uri="{FF2B5EF4-FFF2-40B4-BE49-F238E27FC236}">
                <a16:creationId xmlns:a16="http://schemas.microsoft.com/office/drawing/2014/main" id="{CD01433D-FA1E-D972-F7A6-9875A018ADD5}"/>
              </a:ext>
            </a:extLst>
          </p:cNvPr>
          <p:cNvSpPr/>
          <p:nvPr/>
        </p:nvSpPr>
        <p:spPr>
          <a:xfrm>
            <a:off x="1071563" y="5429954"/>
            <a:ext cx="3579508" cy="1200329"/>
          </a:xfrm>
          <a:prstGeom prst="rect">
            <a:avLst/>
          </a:prstGeom>
        </p:spPr>
        <p:txBody>
          <a:bodyPr wrap="square">
            <a:spAutoFit/>
          </a:bodyPr>
          <a:lstStyle/>
          <a:p>
            <a:pPr eaLnBrk="1" fontAlgn="auto" hangingPunct="1">
              <a:spcBef>
                <a:spcPts val="0"/>
              </a:spcBef>
              <a:spcAft>
                <a:spcPts val="0"/>
              </a:spcAft>
              <a:defRPr/>
            </a:pPr>
            <a:r>
              <a:rPr lang="it-IT" b="1" dirty="0">
                <a:solidFill>
                  <a:schemeClr val="bg2">
                    <a:lumMod val="25000"/>
                  </a:schemeClr>
                </a:solidFill>
                <a:latin typeface="+mn-lt"/>
              </a:rPr>
              <a:t>Fabio Antonini</a:t>
            </a:r>
          </a:p>
          <a:p>
            <a:pPr eaLnBrk="1" fontAlgn="auto" hangingPunct="1">
              <a:spcBef>
                <a:spcPts val="0"/>
              </a:spcBef>
              <a:spcAft>
                <a:spcPts val="0"/>
              </a:spcAft>
              <a:defRPr/>
            </a:pPr>
            <a:endParaRPr lang="it-IT" dirty="0">
              <a:solidFill>
                <a:schemeClr val="bg2">
                  <a:lumMod val="25000"/>
                </a:schemeClr>
              </a:solidFill>
              <a:latin typeface="+mn-lt"/>
            </a:endParaRPr>
          </a:p>
          <a:p>
            <a:pPr eaLnBrk="1" fontAlgn="auto" hangingPunct="1">
              <a:spcBef>
                <a:spcPts val="0"/>
              </a:spcBef>
              <a:spcAft>
                <a:spcPts val="0"/>
              </a:spcAft>
              <a:defRPr/>
            </a:pPr>
            <a:r>
              <a:rPr lang="it-IT" b="1" dirty="0">
                <a:solidFill>
                  <a:schemeClr val="bg2">
                    <a:lumMod val="25000"/>
                  </a:schemeClr>
                </a:solidFill>
                <a:latin typeface="+mn-lt"/>
              </a:rPr>
              <a:t>Software </a:t>
            </a:r>
            <a:r>
              <a:rPr lang="it-IT" b="1" dirty="0" err="1">
                <a:solidFill>
                  <a:schemeClr val="bg2">
                    <a:lumMod val="25000"/>
                  </a:schemeClr>
                </a:solidFill>
                <a:latin typeface="+mn-lt"/>
              </a:rPr>
              <a:t>Engineer</a:t>
            </a:r>
            <a:endParaRPr lang="it-IT" b="1" dirty="0">
              <a:solidFill>
                <a:schemeClr val="bg2">
                  <a:lumMod val="25000"/>
                </a:schemeClr>
              </a:solidFill>
              <a:latin typeface="+mn-lt"/>
            </a:endParaRPr>
          </a:p>
          <a:p>
            <a:pPr eaLnBrk="1" fontAlgn="auto" hangingPunct="1">
              <a:spcBef>
                <a:spcPts val="0"/>
              </a:spcBef>
              <a:spcAft>
                <a:spcPts val="0"/>
              </a:spcAft>
              <a:defRPr/>
            </a:pPr>
            <a:r>
              <a:rPr lang="it-IT" b="1" dirty="0">
                <a:solidFill>
                  <a:schemeClr val="bg2">
                    <a:lumMod val="25000"/>
                  </a:schemeClr>
                </a:solidFill>
                <a:latin typeface="+mn-lt"/>
              </a:rPr>
              <a:t>Fabio.antonini.1969@gmail.com</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32</Words>
  <Application>Microsoft Office PowerPoint</Application>
  <PresentationFormat>Widescreen</PresentationFormat>
  <Paragraphs>11</Paragraphs>
  <Slides>15</Slides>
  <Notes>14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Tema di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Chiara Boscarol</dc:creator>
  <cp:lastModifiedBy>fabio antonini</cp:lastModifiedBy>
  <cp:revision>215</cp:revision>
  <dcterms:created xsi:type="dcterms:W3CDTF">2019-05-24T07:22:49Z</dcterms:created>
  <dcterms:modified xsi:type="dcterms:W3CDTF">2026-02-22T06:01:42Z</dcterms:modified>
</cp:coreProperties>
</file>